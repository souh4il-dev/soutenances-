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6" r:id="rId9"/>
    <p:sldId id="267" r:id="rId10"/>
    <p:sldId id="268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DB7402-8319-40B2-BEDB-06D7588DB9B8}" v="5" dt="2026-06-15T16:33:51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204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5486400" cy="548640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  <p:txBody>
          <a:bodyPr/>
          <a:lstStyle/>
          <a:p>
            <a:endParaRPr lang="en-CA" dirty="0"/>
          </a:p>
        </p:txBody>
      </p:sp>
      <p:sp>
        <p:nvSpPr>
          <p:cNvPr id="3" name="Shape 1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4434840" y="150876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4434840" y="1508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DE PROJET DE FIN DE FORMATION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508760" y="196596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kern="0" spc="400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CHATIHNA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508760" y="3246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"Chat Here, Anywhere"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508760" y="4297680"/>
            <a:ext cx="9144000" cy="1691640"/>
          </a:xfrm>
          <a:prstGeom prst="roundRect">
            <a:avLst>
              <a:gd name="adj" fmla="val 4324"/>
            </a:avLst>
          </a:prstGeom>
          <a:solidFill>
            <a:srgbClr val="111A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1920240" y="4572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Sohail Koutaya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20240" y="5074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 par 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Mme. Imane Bouziane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49440" y="4572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 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SOLICODE - Centre Numérique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49440" y="5074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Académique 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/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Contexte</a:t>
            </a:r>
            <a:endParaRPr lang="en-US" sz="2200" dirty="0"/>
          </a:p>
        </p:txBody>
      </p:sp>
      <p:pic>
        <p:nvPicPr>
          <p:cNvPr id="4" name="Image 0" descr="/home/claude/chatihna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57400"/>
            <a:ext cx="5806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CA" sz="1400" b="1" dirty="0" err="1">
                <a:solidFill>
                  <a:schemeClr val="bg1"/>
                </a:solidFill>
              </a:rPr>
              <a:t>L'accélération</a:t>
            </a:r>
            <a:r>
              <a:rPr lang="en-CA" sz="1400" b="1" dirty="0">
                <a:solidFill>
                  <a:schemeClr val="bg1"/>
                </a:solidFill>
              </a:rPr>
              <a:t> de la transformation numérique :</a:t>
            </a:r>
            <a:r>
              <a:rPr lang="en-CA" sz="1400" dirty="0">
                <a:solidFill>
                  <a:schemeClr val="bg1"/>
                </a:solidFill>
              </a:rPr>
              <a:t> Elle </a:t>
            </a:r>
            <a:r>
              <a:rPr lang="en-CA" sz="1400" dirty="0" err="1">
                <a:solidFill>
                  <a:schemeClr val="bg1"/>
                </a:solidFill>
              </a:rPr>
              <a:t>contraint</a:t>
            </a:r>
            <a:r>
              <a:rPr lang="en-CA" sz="1400" dirty="0">
                <a:solidFill>
                  <a:schemeClr val="bg1"/>
                </a:solidFill>
              </a:rPr>
              <a:t> les applications de </a:t>
            </a:r>
            <a:r>
              <a:rPr lang="en-CA" sz="1400" dirty="0" err="1">
                <a:solidFill>
                  <a:schemeClr val="bg1"/>
                </a:solidFill>
              </a:rPr>
              <a:t>messagerie</a:t>
            </a:r>
            <a:r>
              <a:rPr lang="en-CA" sz="1400" dirty="0">
                <a:solidFill>
                  <a:schemeClr val="bg1"/>
                </a:solidFill>
              </a:rPr>
              <a:t> à </a:t>
            </a:r>
            <a:r>
              <a:rPr lang="en-CA" sz="1400" dirty="0" err="1">
                <a:solidFill>
                  <a:schemeClr val="bg1"/>
                </a:solidFill>
              </a:rPr>
              <a:t>offrir</a:t>
            </a:r>
            <a:r>
              <a:rPr lang="en-CA" sz="1400" dirty="0">
                <a:solidFill>
                  <a:schemeClr val="bg1"/>
                </a:solidFill>
              </a:rPr>
              <a:t> des </a:t>
            </a:r>
            <a:r>
              <a:rPr lang="en-CA" sz="1400" dirty="0" err="1">
                <a:solidFill>
                  <a:schemeClr val="bg1"/>
                </a:solidFill>
              </a:rPr>
              <a:t>expériences</a:t>
            </a:r>
            <a:r>
              <a:rPr lang="en-CA" sz="1400" dirty="0">
                <a:solidFill>
                  <a:schemeClr val="bg1"/>
                </a:solidFill>
              </a:rPr>
              <a:t> de communication </a:t>
            </a:r>
            <a:r>
              <a:rPr lang="en-CA" sz="1400" dirty="0" err="1">
                <a:solidFill>
                  <a:schemeClr val="bg1"/>
                </a:solidFill>
              </a:rPr>
              <a:t>instantanées</a:t>
            </a:r>
            <a:r>
              <a:rPr lang="en-CA" sz="1400" dirty="0">
                <a:solidFill>
                  <a:schemeClr val="bg1"/>
                </a:solidFill>
              </a:rPr>
              <a:t> </a:t>
            </a:r>
            <a:r>
              <a:rPr lang="en-CA" sz="1400" dirty="0" err="1">
                <a:solidFill>
                  <a:schemeClr val="bg1"/>
                </a:solidFill>
              </a:rPr>
              <a:t>répondant</a:t>
            </a:r>
            <a:r>
              <a:rPr lang="en-CA" sz="1400" dirty="0">
                <a:solidFill>
                  <a:schemeClr val="bg1"/>
                </a:solidFill>
              </a:rPr>
              <a:t> aux exigences de </a:t>
            </a:r>
            <a:r>
              <a:rPr lang="en-CA" sz="1400" dirty="0" err="1">
                <a:solidFill>
                  <a:schemeClr val="bg1"/>
                </a:solidFill>
              </a:rPr>
              <a:t>vitesse</a:t>
            </a:r>
            <a:r>
              <a:rPr lang="en-CA" sz="1400" dirty="0">
                <a:solidFill>
                  <a:schemeClr val="bg1"/>
                </a:solidFill>
              </a:rPr>
              <a:t> et </a:t>
            </a:r>
            <a:r>
              <a:rPr lang="en-CA" sz="1400" dirty="0" err="1">
                <a:solidFill>
                  <a:schemeClr val="bg1"/>
                </a:solidFill>
              </a:rPr>
              <a:t>d'efficacité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6" name="Image 1" descr="/home/claude/chatihna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17520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2971800"/>
            <a:ext cx="5806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CA" sz="1400" b="1" dirty="0">
                <a:solidFill>
                  <a:schemeClr val="bg1"/>
                </a:solidFill>
              </a:rPr>
              <a:t>La sécurité et la </a:t>
            </a:r>
            <a:r>
              <a:rPr lang="en-CA" sz="1400" b="1" dirty="0" err="1">
                <a:solidFill>
                  <a:schemeClr val="bg1"/>
                </a:solidFill>
              </a:rPr>
              <a:t>confidentialité</a:t>
            </a:r>
            <a:r>
              <a:rPr lang="en-CA" sz="1400" b="1" dirty="0">
                <a:solidFill>
                  <a:schemeClr val="bg1"/>
                </a:solidFill>
              </a:rPr>
              <a:t> des données :</a:t>
            </a:r>
            <a:r>
              <a:rPr lang="en-CA" sz="1400" dirty="0">
                <a:solidFill>
                  <a:schemeClr val="bg1"/>
                </a:solidFill>
              </a:rPr>
              <a:t> Face aux </a:t>
            </a:r>
            <a:r>
              <a:rPr lang="en-CA" sz="1400" dirty="0" err="1">
                <a:solidFill>
                  <a:schemeClr val="bg1"/>
                </a:solidFill>
              </a:rPr>
              <a:t>inquiétudes</a:t>
            </a:r>
            <a:r>
              <a:rPr lang="en-CA" sz="1400" dirty="0">
                <a:solidFill>
                  <a:schemeClr val="bg1"/>
                </a:solidFill>
              </a:rPr>
              <a:t> </a:t>
            </a:r>
            <a:r>
              <a:rPr lang="en-CA" sz="1400" dirty="0" err="1">
                <a:solidFill>
                  <a:schemeClr val="bg1"/>
                </a:solidFill>
              </a:rPr>
              <a:t>croissantes</a:t>
            </a:r>
            <a:r>
              <a:rPr lang="en-CA" sz="1400" dirty="0">
                <a:solidFill>
                  <a:schemeClr val="bg1"/>
                </a:solidFill>
              </a:rPr>
              <a:t>, les </a:t>
            </a:r>
            <a:r>
              <a:rPr lang="en-CA" sz="1400" dirty="0" err="1">
                <a:solidFill>
                  <a:schemeClr val="bg1"/>
                </a:solidFill>
              </a:rPr>
              <a:t>utilisateurs</a:t>
            </a:r>
            <a:r>
              <a:rPr lang="en-CA" sz="1400" dirty="0">
                <a:solidFill>
                  <a:schemeClr val="bg1"/>
                </a:solidFill>
              </a:rPr>
              <a:t> </a:t>
            </a:r>
            <a:r>
              <a:rPr lang="en-CA" sz="1400" dirty="0" err="1">
                <a:solidFill>
                  <a:schemeClr val="bg1"/>
                </a:solidFill>
              </a:rPr>
              <a:t>recherchent</a:t>
            </a:r>
            <a:r>
              <a:rPr lang="en-CA" sz="1400" dirty="0">
                <a:solidFill>
                  <a:schemeClr val="bg1"/>
                </a:solidFill>
              </a:rPr>
              <a:t> </a:t>
            </a:r>
            <a:r>
              <a:rPr lang="en-CA" sz="1400" dirty="0" err="1">
                <a:solidFill>
                  <a:schemeClr val="bg1"/>
                </a:solidFill>
              </a:rPr>
              <a:t>désormais</a:t>
            </a:r>
            <a:r>
              <a:rPr lang="en-CA" sz="1400" dirty="0">
                <a:solidFill>
                  <a:schemeClr val="bg1"/>
                </a:solidFill>
              </a:rPr>
              <a:t> des alternatives </a:t>
            </a:r>
            <a:r>
              <a:rPr lang="en-CA" sz="1400" dirty="0" err="1">
                <a:solidFill>
                  <a:schemeClr val="bg1"/>
                </a:solidFill>
              </a:rPr>
              <a:t>fiables</a:t>
            </a:r>
            <a:r>
              <a:rPr lang="en-CA" sz="1400" dirty="0">
                <a:solidFill>
                  <a:schemeClr val="bg1"/>
                </a:solidFill>
              </a:rPr>
              <a:t> qui </a:t>
            </a:r>
            <a:r>
              <a:rPr lang="en-CA" sz="1400" dirty="0" err="1">
                <a:solidFill>
                  <a:schemeClr val="bg1"/>
                </a:solidFill>
              </a:rPr>
              <a:t>respectent</a:t>
            </a:r>
            <a:r>
              <a:rPr lang="en-CA" sz="1400" dirty="0">
                <a:solidFill>
                  <a:schemeClr val="bg1"/>
                </a:solidFill>
              </a:rPr>
              <a:t> </a:t>
            </a:r>
            <a:r>
              <a:rPr lang="en-CA" sz="1400" dirty="0" err="1">
                <a:solidFill>
                  <a:schemeClr val="bg1"/>
                </a:solidFill>
              </a:rPr>
              <a:t>strictement</a:t>
            </a:r>
            <a:r>
              <a:rPr lang="en-CA" sz="1400" dirty="0">
                <a:solidFill>
                  <a:schemeClr val="bg1"/>
                </a:solidFill>
              </a:rPr>
              <a:t> </a:t>
            </a:r>
            <a:r>
              <a:rPr lang="en-CA" sz="1400" dirty="0" err="1">
                <a:solidFill>
                  <a:schemeClr val="bg1"/>
                </a:solidFill>
              </a:rPr>
              <a:t>leur</a:t>
            </a:r>
            <a:r>
              <a:rPr lang="en-CA" sz="1400" dirty="0">
                <a:solidFill>
                  <a:schemeClr val="bg1"/>
                </a:solidFill>
              </a:rPr>
              <a:t> vie </a:t>
            </a:r>
            <a:r>
              <a:rPr lang="en-CA" sz="1400" dirty="0" err="1">
                <a:solidFill>
                  <a:schemeClr val="bg1"/>
                </a:solidFill>
              </a:rPr>
              <a:t>privée</a:t>
            </a:r>
            <a:r>
              <a:rPr lang="en-CA" sz="1400" dirty="0">
                <a:solidFill>
                  <a:schemeClr val="bg1"/>
                </a:solidFill>
              </a:rPr>
              <a:t>.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8" name="Image 2" descr="/home/claude/chatihna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31920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0120" y="3886200"/>
            <a:ext cx="5806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CA" sz="1400" b="1" dirty="0" err="1">
                <a:solidFill>
                  <a:schemeClr val="bg1"/>
                </a:solidFill>
              </a:rPr>
              <a:t>L'évolution</a:t>
            </a:r>
            <a:r>
              <a:rPr lang="en-CA" sz="1400" b="1" dirty="0">
                <a:solidFill>
                  <a:schemeClr val="bg1"/>
                </a:solidFill>
              </a:rPr>
              <a:t> des </a:t>
            </a:r>
            <a:r>
              <a:rPr lang="en-CA" sz="1400" b="1" dirty="0" err="1">
                <a:solidFill>
                  <a:schemeClr val="bg1"/>
                </a:solidFill>
              </a:rPr>
              <a:t>attentes</a:t>
            </a:r>
            <a:r>
              <a:rPr lang="en-CA" sz="1400" b="1" dirty="0">
                <a:solidFill>
                  <a:schemeClr val="bg1"/>
                </a:solidFill>
              </a:rPr>
              <a:t> des </a:t>
            </a:r>
            <a:r>
              <a:rPr lang="en-CA" sz="1400" b="1" dirty="0" err="1">
                <a:solidFill>
                  <a:schemeClr val="bg1"/>
                </a:solidFill>
              </a:rPr>
              <a:t>utilisateurs</a:t>
            </a:r>
            <a:r>
              <a:rPr lang="en-CA" sz="1400" b="1" dirty="0">
                <a:solidFill>
                  <a:schemeClr val="bg1"/>
                </a:solidFill>
              </a:rPr>
              <a:t> :</a:t>
            </a:r>
            <a:r>
              <a:rPr lang="en-CA" sz="1400" dirty="0">
                <a:solidFill>
                  <a:schemeClr val="bg1"/>
                </a:solidFill>
              </a:rPr>
              <a:t> </a:t>
            </a:r>
            <a:r>
              <a:rPr lang="en-CA" sz="1400" dirty="0" err="1">
                <a:solidFill>
                  <a:schemeClr val="bg1"/>
                </a:solidFill>
              </a:rPr>
              <a:t>Émergence</a:t>
            </a:r>
            <a:r>
              <a:rPr lang="en-CA" sz="1400" dirty="0">
                <a:solidFill>
                  <a:schemeClr val="bg1"/>
                </a:solidFill>
              </a:rPr>
              <a:t> de </a:t>
            </a:r>
            <a:r>
              <a:rPr lang="en-CA" sz="1400" dirty="0" err="1">
                <a:solidFill>
                  <a:schemeClr val="bg1"/>
                </a:solidFill>
              </a:rPr>
              <a:t>nouvelles</a:t>
            </a:r>
            <a:r>
              <a:rPr lang="en-CA" sz="1400" dirty="0">
                <a:solidFill>
                  <a:schemeClr val="bg1"/>
                </a:solidFill>
              </a:rPr>
              <a:t> </a:t>
            </a:r>
            <a:r>
              <a:rPr lang="en-CA" sz="1400" dirty="0" err="1">
                <a:solidFill>
                  <a:schemeClr val="bg1"/>
                </a:solidFill>
              </a:rPr>
              <a:t>générations</a:t>
            </a:r>
            <a:r>
              <a:rPr lang="en-CA" sz="1400" dirty="0">
                <a:solidFill>
                  <a:schemeClr val="bg1"/>
                </a:solidFill>
              </a:rPr>
              <a:t> </a:t>
            </a:r>
            <a:r>
              <a:rPr lang="en-CA" sz="1400" dirty="0" err="1">
                <a:solidFill>
                  <a:schemeClr val="bg1"/>
                </a:solidFill>
              </a:rPr>
              <a:t>exigeant</a:t>
            </a:r>
            <a:r>
              <a:rPr lang="en-CA" sz="1400" dirty="0">
                <a:solidFill>
                  <a:schemeClr val="bg1"/>
                </a:solidFill>
              </a:rPr>
              <a:t> des </a:t>
            </a:r>
            <a:r>
              <a:rPr lang="en-CA" sz="1400" dirty="0" err="1">
                <a:solidFill>
                  <a:schemeClr val="bg1"/>
                </a:solidFill>
              </a:rPr>
              <a:t>plateformes</a:t>
            </a:r>
            <a:r>
              <a:rPr lang="en-CA" sz="1400" dirty="0">
                <a:solidFill>
                  <a:schemeClr val="bg1"/>
                </a:solidFill>
              </a:rPr>
              <a:t> tout-</a:t>
            </a:r>
            <a:r>
              <a:rPr lang="en-CA" sz="1400" dirty="0" err="1">
                <a:solidFill>
                  <a:schemeClr val="bg1"/>
                </a:solidFill>
              </a:rPr>
              <a:t>en</a:t>
            </a:r>
            <a:r>
              <a:rPr lang="en-CA" sz="1400" dirty="0">
                <a:solidFill>
                  <a:schemeClr val="bg1"/>
                </a:solidFill>
              </a:rPr>
              <a:t>-un, </a:t>
            </a:r>
            <a:r>
              <a:rPr lang="en-CA" sz="1400" dirty="0" err="1">
                <a:solidFill>
                  <a:schemeClr val="bg1"/>
                </a:solidFill>
              </a:rPr>
              <a:t>regroupant</a:t>
            </a:r>
            <a:r>
              <a:rPr lang="en-CA" sz="1400" dirty="0">
                <a:solidFill>
                  <a:schemeClr val="bg1"/>
                </a:solidFill>
              </a:rPr>
              <a:t> </a:t>
            </a:r>
            <a:r>
              <a:rPr lang="en-CA" sz="1400" dirty="0" err="1">
                <a:solidFill>
                  <a:schemeClr val="bg1"/>
                </a:solidFill>
              </a:rPr>
              <a:t>texte</a:t>
            </a:r>
            <a:r>
              <a:rPr lang="en-CA" sz="1400" dirty="0">
                <a:solidFill>
                  <a:schemeClr val="bg1"/>
                </a:solidFill>
              </a:rPr>
              <a:t>, audio, </a:t>
            </a:r>
            <a:r>
              <a:rPr lang="en-CA" sz="1400" dirty="0" err="1">
                <a:solidFill>
                  <a:schemeClr val="bg1"/>
                </a:solidFill>
              </a:rPr>
              <a:t>vidéo</a:t>
            </a:r>
            <a:r>
              <a:rPr lang="en-CA" sz="1400" dirty="0">
                <a:solidFill>
                  <a:schemeClr val="bg1"/>
                </a:solidFill>
              </a:rPr>
              <a:t> et </a:t>
            </a:r>
            <a:r>
              <a:rPr lang="en-CA" sz="1400" dirty="0" err="1">
                <a:solidFill>
                  <a:schemeClr val="bg1"/>
                </a:solidFill>
              </a:rPr>
              <a:t>appels</a:t>
            </a:r>
            <a:r>
              <a:rPr lang="en-CA" sz="1400" dirty="0">
                <a:solidFill>
                  <a:schemeClr val="bg1"/>
                </a:solidFill>
              </a:rPr>
              <a:t> pour </a:t>
            </a:r>
            <a:r>
              <a:rPr lang="en-CA" sz="1400" dirty="0" err="1">
                <a:solidFill>
                  <a:schemeClr val="bg1"/>
                </a:solidFill>
              </a:rPr>
              <a:t>une</a:t>
            </a:r>
            <a:r>
              <a:rPr lang="en-CA" sz="1400" dirty="0">
                <a:solidFill>
                  <a:schemeClr val="bg1"/>
                </a:solidFill>
              </a:rPr>
              <a:t> communication </a:t>
            </a:r>
            <a:r>
              <a:rPr lang="en-CA" sz="1400" dirty="0" err="1">
                <a:solidFill>
                  <a:schemeClr val="bg1"/>
                </a:solidFill>
              </a:rPr>
              <a:t>globale</a:t>
            </a:r>
            <a:r>
              <a:rPr lang="en-CA" sz="1400" dirty="0">
                <a:solidFill>
                  <a:schemeClr val="bg1"/>
                </a:solidFill>
              </a:rPr>
              <a:t>.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10" name="Image 3" descr="/home/claude/chatihna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46320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0120" y="4800600"/>
            <a:ext cx="5806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CA" sz="1400" b="1" dirty="0">
                <a:solidFill>
                  <a:schemeClr val="bg1"/>
                </a:solidFill>
              </a:rPr>
              <a:t>Le </a:t>
            </a:r>
            <a:r>
              <a:rPr lang="en-CA" sz="1400" b="1" dirty="0" err="1">
                <a:solidFill>
                  <a:schemeClr val="bg1"/>
                </a:solidFill>
              </a:rPr>
              <a:t>besoin</a:t>
            </a:r>
            <a:r>
              <a:rPr lang="en-CA" sz="1400" b="1" dirty="0">
                <a:solidFill>
                  <a:schemeClr val="bg1"/>
                </a:solidFill>
              </a:rPr>
              <a:t> </a:t>
            </a:r>
            <a:r>
              <a:rPr lang="en-CA" sz="1400" b="1" dirty="0" err="1">
                <a:solidFill>
                  <a:schemeClr val="bg1"/>
                </a:solidFill>
              </a:rPr>
              <a:t>d'interfaces</a:t>
            </a:r>
            <a:r>
              <a:rPr lang="en-CA" sz="1400" b="1" dirty="0">
                <a:solidFill>
                  <a:schemeClr val="bg1"/>
                </a:solidFill>
              </a:rPr>
              <a:t> </a:t>
            </a:r>
            <a:r>
              <a:rPr lang="en-CA" sz="1400" b="1" dirty="0" err="1">
                <a:solidFill>
                  <a:schemeClr val="bg1"/>
                </a:solidFill>
              </a:rPr>
              <a:t>responsives</a:t>
            </a:r>
            <a:r>
              <a:rPr lang="en-CA" sz="1400" b="1" dirty="0">
                <a:solidFill>
                  <a:schemeClr val="bg1"/>
                </a:solidFill>
              </a:rPr>
              <a:t> et </a:t>
            </a:r>
            <a:r>
              <a:rPr lang="en-CA" sz="1400" b="1" dirty="0" err="1">
                <a:solidFill>
                  <a:schemeClr val="bg1"/>
                </a:solidFill>
              </a:rPr>
              <a:t>performantes</a:t>
            </a:r>
            <a:r>
              <a:rPr lang="en-CA" sz="1400" b="1" dirty="0">
                <a:solidFill>
                  <a:schemeClr val="bg1"/>
                </a:solidFill>
              </a:rPr>
              <a:t> :</a:t>
            </a:r>
            <a:r>
              <a:rPr lang="en-CA" sz="1400" dirty="0">
                <a:solidFill>
                  <a:schemeClr val="bg1"/>
                </a:solidFill>
              </a:rPr>
              <a:t> </a:t>
            </a:r>
            <a:r>
              <a:rPr lang="en-CA" sz="1400" dirty="0" err="1">
                <a:solidFill>
                  <a:schemeClr val="bg1"/>
                </a:solidFill>
              </a:rPr>
              <a:t>Nécessité</a:t>
            </a:r>
            <a:r>
              <a:rPr lang="en-CA" sz="1400" dirty="0">
                <a:solidFill>
                  <a:schemeClr val="bg1"/>
                </a:solidFill>
              </a:rPr>
              <a:t> </a:t>
            </a:r>
            <a:r>
              <a:rPr lang="en-CA" sz="1400" dirty="0" err="1">
                <a:solidFill>
                  <a:schemeClr val="bg1"/>
                </a:solidFill>
              </a:rPr>
              <a:t>absolue</a:t>
            </a:r>
            <a:r>
              <a:rPr lang="en-CA" sz="1400" dirty="0">
                <a:solidFill>
                  <a:schemeClr val="bg1"/>
                </a:solidFill>
              </a:rPr>
              <a:t> de </a:t>
            </a:r>
            <a:r>
              <a:rPr lang="en-CA" sz="1400" dirty="0" err="1">
                <a:solidFill>
                  <a:schemeClr val="bg1"/>
                </a:solidFill>
              </a:rPr>
              <a:t>garantir</a:t>
            </a:r>
            <a:r>
              <a:rPr lang="en-CA" sz="1400" dirty="0">
                <a:solidFill>
                  <a:schemeClr val="bg1"/>
                </a:solidFill>
              </a:rPr>
              <a:t> </a:t>
            </a:r>
            <a:r>
              <a:rPr lang="en-CA" sz="1400" dirty="0" err="1">
                <a:solidFill>
                  <a:schemeClr val="bg1"/>
                </a:solidFill>
              </a:rPr>
              <a:t>une</a:t>
            </a:r>
            <a:r>
              <a:rPr lang="en-CA" sz="1400" dirty="0">
                <a:solidFill>
                  <a:schemeClr val="bg1"/>
                </a:solidFill>
              </a:rPr>
              <a:t> </a:t>
            </a:r>
            <a:r>
              <a:rPr lang="en-CA" sz="1400" dirty="0" err="1">
                <a:solidFill>
                  <a:schemeClr val="bg1"/>
                </a:solidFill>
              </a:rPr>
              <a:t>stabilité</a:t>
            </a:r>
            <a:r>
              <a:rPr lang="en-CA" sz="1400" dirty="0">
                <a:solidFill>
                  <a:schemeClr val="bg1"/>
                </a:solidFill>
              </a:rPr>
              <a:t> et </a:t>
            </a:r>
            <a:r>
              <a:rPr lang="en-CA" sz="1400" dirty="0" err="1">
                <a:solidFill>
                  <a:schemeClr val="bg1"/>
                </a:solidFill>
              </a:rPr>
              <a:t>une</a:t>
            </a:r>
            <a:r>
              <a:rPr lang="en-CA" sz="1400" dirty="0">
                <a:solidFill>
                  <a:schemeClr val="bg1"/>
                </a:solidFill>
              </a:rPr>
              <a:t> </a:t>
            </a:r>
            <a:r>
              <a:rPr lang="en-CA" sz="1400" dirty="0" err="1">
                <a:solidFill>
                  <a:schemeClr val="bg1"/>
                </a:solidFill>
              </a:rPr>
              <a:t>fluidité</a:t>
            </a:r>
            <a:r>
              <a:rPr lang="en-CA" sz="1400" dirty="0">
                <a:solidFill>
                  <a:schemeClr val="bg1"/>
                </a:solidFill>
              </a:rPr>
              <a:t> </a:t>
            </a:r>
            <a:r>
              <a:rPr lang="en-CA" sz="1400" dirty="0" err="1">
                <a:solidFill>
                  <a:schemeClr val="bg1"/>
                </a:solidFill>
              </a:rPr>
              <a:t>optimales</a:t>
            </a:r>
            <a:r>
              <a:rPr lang="en-CA" sz="1400" dirty="0">
                <a:solidFill>
                  <a:schemeClr val="bg1"/>
                </a:solidFill>
              </a:rPr>
              <a:t>, </a:t>
            </a:r>
            <a:r>
              <a:rPr lang="en-CA" sz="1400" dirty="0" err="1">
                <a:solidFill>
                  <a:schemeClr val="bg1"/>
                </a:solidFill>
              </a:rPr>
              <a:t>que</a:t>
            </a:r>
            <a:r>
              <a:rPr lang="en-CA" sz="1400" dirty="0">
                <a:solidFill>
                  <a:schemeClr val="bg1"/>
                </a:solidFill>
              </a:rPr>
              <a:t> </a:t>
            </a:r>
            <a:r>
              <a:rPr lang="en-CA" sz="1400" dirty="0" err="1">
                <a:solidFill>
                  <a:schemeClr val="bg1"/>
                </a:solidFill>
              </a:rPr>
              <a:t>ce</a:t>
            </a:r>
            <a:r>
              <a:rPr lang="en-CA" sz="1400" dirty="0">
                <a:solidFill>
                  <a:schemeClr val="bg1"/>
                </a:solidFill>
              </a:rPr>
              <a:t> soit sur mobile </a:t>
            </a:r>
            <a:r>
              <a:rPr lang="en-CA" sz="1400" dirty="0" err="1">
                <a:solidFill>
                  <a:schemeClr val="bg1"/>
                </a:solidFill>
              </a:rPr>
              <a:t>ou</a:t>
            </a:r>
            <a:r>
              <a:rPr lang="en-CA" sz="1400" dirty="0">
                <a:solidFill>
                  <a:schemeClr val="bg1"/>
                </a:solidFill>
              </a:rPr>
              <a:t> sur </a:t>
            </a:r>
            <a:r>
              <a:rPr lang="en-CA" sz="1400" dirty="0" err="1">
                <a:solidFill>
                  <a:schemeClr val="bg1"/>
                </a:solidFill>
              </a:rPr>
              <a:t>ordinateur</a:t>
            </a:r>
            <a:r>
              <a:rPr lang="en-CA" sz="1400" dirty="0">
                <a:solidFill>
                  <a:schemeClr val="bg1"/>
                </a:solidFill>
              </a:rPr>
              <a:t>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2" name="Shape 6"/>
          <p:cNvSpPr/>
          <p:nvPr/>
        </p:nvSpPr>
        <p:spPr>
          <a:xfrm>
            <a:off x="7178040" y="1737360"/>
            <a:ext cx="4434840" cy="3108960"/>
          </a:xfrm>
          <a:prstGeom prst="roundRect">
            <a:avLst>
              <a:gd name="adj" fmla="val 2941"/>
            </a:avLst>
          </a:prstGeom>
          <a:solidFill>
            <a:srgbClr val="111A2E"/>
          </a:solidFill>
          <a:ln w="12700">
            <a:solidFill>
              <a:srgbClr val="5B1F23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Shape 7"/>
          <p:cNvSpPr/>
          <p:nvPr/>
        </p:nvSpPr>
        <p:spPr>
          <a:xfrm>
            <a:off x="7498080" y="2057400"/>
            <a:ext cx="548640" cy="548640"/>
          </a:xfrm>
          <a:prstGeom prst="ellipse">
            <a:avLst/>
          </a:prstGeom>
          <a:solidFill>
            <a:srgbClr val="3A1419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4" name="Image 4" descr="/home/claude/chatihna/icons/question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2194560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229600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Problématique</a:t>
            </a:r>
            <a:endParaRPr lang="en-US" sz="1900" dirty="0"/>
          </a:p>
        </p:txBody>
      </p:sp>
      <p:sp>
        <p:nvSpPr>
          <p:cNvPr id="16" name="Text 9"/>
          <p:cNvSpPr/>
          <p:nvPr/>
        </p:nvSpPr>
        <p:spPr>
          <a:xfrm>
            <a:off x="7498080" y="27432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CA" sz="1600" dirty="0">
                <a:solidFill>
                  <a:schemeClr val="bg1"/>
                </a:solidFill>
              </a:rPr>
              <a:t>Comment </a:t>
            </a:r>
            <a:r>
              <a:rPr lang="en-CA" sz="1600" dirty="0" err="1">
                <a:solidFill>
                  <a:schemeClr val="bg1"/>
                </a:solidFill>
              </a:rPr>
              <a:t>concevoir</a:t>
            </a:r>
            <a:r>
              <a:rPr lang="en-CA" sz="1600" dirty="0">
                <a:solidFill>
                  <a:schemeClr val="bg1"/>
                </a:solidFill>
              </a:rPr>
              <a:t> et </a:t>
            </a:r>
            <a:r>
              <a:rPr lang="en-CA" sz="1600" dirty="0" err="1">
                <a:solidFill>
                  <a:schemeClr val="bg1"/>
                </a:solidFill>
              </a:rPr>
              <a:t>développer</a:t>
            </a:r>
            <a:r>
              <a:rPr lang="en-CA" sz="1600" dirty="0">
                <a:solidFill>
                  <a:schemeClr val="bg1"/>
                </a:solidFill>
              </a:rPr>
              <a:t> </a:t>
            </a:r>
            <a:r>
              <a:rPr lang="en-CA" sz="1600" dirty="0" err="1">
                <a:solidFill>
                  <a:schemeClr val="bg1"/>
                </a:solidFill>
              </a:rPr>
              <a:t>une</a:t>
            </a:r>
            <a:r>
              <a:rPr lang="en-CA" sz="1600" dirty="0">
                <a:solidFill>
                  <a:schemeClr val="bg1"/>
                </a:solidFill>
              </a:rPr>
              <a:t> application de </a:t>
            </a:r>
            <a:r>
              <a:rPr lang="en-CA" sz="1600" dirty="0" err="1">
                <a:solidFill>
                  <a:schemeClr val="bg1"/>
                </a:solidFill>
              </a:rPr>
              <a:t>messagerie</a:t>
            </a:r>
            <a:r>
              <a:rPr lang="en-CA" sz="1600" dirty="0">
                <a:solidFill>
                  <a:schemeClr val="bg1"/>
                </a:solidFill>
              </a:rPr>
              <a:t> </a:t>
            </a:r>
            <a:r>
              <a:rPr lang="en-CA" sz="1600" dirty="0" err="1">
                <a:solidFill>
                  <a:schemeClr val="bg1"/>
                </a:solidFill>
              </a:rPr>
              <a:t>rapide</a:t>
            </a:r>
            <a:r>
              <a:rPr lang="en-CA" sz="1600" dirty="0">
                <a:solidFill>
                  <a:schemeClr val="bg1"/>
                </a:solidFill>
              </a:rPr>
              <a:t> qui </a:t>
            </a:r>
            <a:r>
              <a:rPr lang="en-CA" sz="1600" dirty="0" err="1">
                <a:solidFill>
                  <a:schemeClr val="bg1"/>
                </a:solidFill>
              </a:rPr>
              <a:t>offre</a:t>
            </a:r>
            <a:r>
              <a:rPr lang="en-CA" sz="1600" dirty="0">
                <a:solidFill>
                  <a:schemeClr val="bg1"/>
                </a:solidFill>
              </a:rPr>
              <a:t> </a:t>
            </a:r>
            <a:r>
              <a:rPr lang="en-CA" sz="1600" dirty="0" err="1">
                <a:solidFill>
                  <a:schemeClr val="bg1"/>
                </a:solidFill>
              </a:rPr>
              <a:t>une</a:t>
            </a:r>
            <a:r>
              <a:rPr lang="en-CA" sz="1600" dirty="0">
                <a:solidFill>
                  <a:schemeClr val="bg1"/>
                </a:solidFill>
              </a:rPr>
              <a:t> communication </a:t>
            </a:r>
            <a:r>
              <a:rPr lang="en-CA" sz="1600" dirty="0" err="1">
                <a:solidFill>
                  <a:schemeClr val="bg1"/>
                </a:solidFill>
              </a:rPr>
              <a:t>instantanée</a:t>
            </a:r>
            <a:r>
              <a:rPr lang="en-CA" sz="1600" dirty="0">
                <a:solidFill>
                  <a:schemeClr val="bg1"/>
                </a:solidFill>
              </a:rPr>
              <a:t> et </a:t>
            </a:r>
            <a:r>
              <a:rPr lang="en-CA" sz="1600" dirty="0" err="1">
                <a:solidFill>
                  <a:schemeClr val="bg1"/>
                </a:solidFill>
              </a:rPr>
              <a:t>sécurisée</a:t>
            </a:r>
            <a:r>
              <a:rPr lang="en-CA" sz="1600" dirty="0">
                <a:solidFill>
                  <a:schemeClr val="bg1"/>
                </a:solidFill>
              </a:rPr>
              <a:t>, tout </a:t>
            </a:r>
            <a:r>
              <a:rPr lang="en-CA" sz="1600" dirty="0" err="1">
                <a:solidFill>
                  <a:schemeClr val="bg1"/>
                </a:solidFill>
              </a:rPr>
              <a:t>en</a:t>
            </a:r>
            <a:r>
              <a:rPr lang="en-CA" sz="1600" dirty="0">
                <a:solidFill>
                  <a:schemeClr val="bg1"/>
                </a:solidFill>
              </a:rPr>
              <a:t> </a:t>
            </a:r>
            <a:r>
              <a:rPr lang="en-CA" sz="1600" dirty="0" err="1">
                <a:solidFill>
                  <a:schemeClr val="bg1"/>
                </a:solidFill>
              </a:rPr>
              <a:t>intégrant</a:t>
            </a:r>
            <a:r>
              <a:rPr lang="en-CA" sz="1600" dirty="0">
                <a:solidFill>
                  <a:schemeClr val="bg1"/>
                </a:solidFill>
              </a:rPr>
              <a:t> des </a:t>
            </a:r>
            <a:r>
              <a:rPr lang="en-CA" sz="1600" dirty="0" err="1">
                <a:solidFill>
                  <a:schemeClr val="bg1"/>
                </a:solidFill>
              </a:rPr>
              <a:t>fonctionnalités</a:t>
            </a:r>
            <a:r>
              <a:rPr lang="en-CA" sz="1600" dirty="0">
                <a:solidFill>
                  <a:schemeClr val="bg1"/>
                </a:solidFill>
              </a:rPr>
              <a:t> de partage de voix, </a:t>
            </a:r>
            <a:r>
              <a:rPr lang="en-CA" sz="1600" dirty="0" err="1">
                <a:solidFill>
                  <a:schemeClr val="bg1"/>
                </a:solidFill>
              </a:rPr>
              <a:t>d'images</a:t>
            </a:r>
            <a:r>
              <a:rPr lang="en-CA" sz="1600" dirty="0">
                <a:solidFill>
                  <a:schemeClr val="bg1"/>
                </a:solidFill>
              </a:rPr>
              <a:t> et des </a:t>
            </a:r>
            <a:r>
              <a:rPr lang="en-CA" sz="1600" dirty="0" err="1">
                <a:solidFill>
                  <a:schemeClr val="bg1"/>
                </a:solidFill>
              </a:rPr>
              <a:t>appels</a:t>
            </a:r>
            <a:r>
              <a:rPr lang="en-CA" sz="1600" dirty="0">
                <a:solidFill>
                  <a:schemeClr val="bg1"/>
                </a:solidFill>
              </a:rPr>
              <a:t> </a:t>
            </a:r>
            <a:r>
              <a:rPr lang="en-CA" sz="1600" dirty="0" err="1">
                <a:solidFill>
                  <a:schemeClr val="bg1"/>
                </a:solidFill>
              </a:rPr>
              <a:t>vidéo</a:t>
            </a:r>
            <a:r>
              <a:rPr lang="en-CA" sz="1600" dirty="0">
                <a:solidFill>
                  <a:schemeClr val="bg1"/>
                </a:solidFill>
              </a:rPr>
              <a:t> avec un haut </a:t>
            </a:r>
            <a:r>
              <a:rPr lang="en-CA" sz="1600" dirty="0" err="1">
                <a:solidFill>
                  <a:schemeClr val="bg1"/>
                </a:solidFill>
              </a:rPr>
              <a:t>niveau</a:t>
            </a:r>
            <a:r>
              <a:rPr lang="en-CA" sz="1600" dirty="0">
                <a:solidFill>
                  <a:schemeClr val="bg1"/>
                </a:solidFill>
              </a:rPr>
              <a:t> de </a:t>
            </a:r>
            <a:r>
              <a:rPr lang="en-CA" sz="1600" dirty="0" err="1">
                <a:solidFill>
                  <a:schemeClr val="bg1"/>
                </a:solidFill>
              </a:rPr>
              <a:t>confidentialité</a:t>
            </a:r>
            <a:r>
              <a:rPr lang="en-CA" sz="1600" dirty="0">
                <a:solidFill>
                  <a:schemeClr val="bg1"/>
                </a:solidFill>
              </a:rPr>
              <a:t> ?</a:t>
            </a:r>
            <a:endParaRPr lang="en-US" sz="14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11A2E"/>
          </a:solidFill>
          <a:ln w="19050">
            <a:solidFill>
              <a:srgbClr val="2DD4BF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777240" y="175564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D38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/home/claude/chatihna/icons/user_shield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865376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331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Accès Sécurisé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77240" y="272491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moderne par email et mot de passe, via un fournisseur de service fiable.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89120" y="15544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11A2E"/>
          </a:solidFill>
          <a:ln w="19050">
            <a:solidFill>
              <a:srgbClr val="2DD4BF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Shape 6"/>
          <p:cNvSpPr/>
          <p:nvPr/>
        </p:nvSpPr>
        <p:spPr>
          <a:xfrm>
            <a:off x="4617720" y="175564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D38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0" name="Image 1" descr="/home/claude/chatihna/icons/bol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1865376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2331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Zéro Délai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617720" y="272491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bidirectionnel persistant pour l'envoi et la réception instantanée de messages.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229600" y="15544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11A2E"/>
          </a:solidFill>
          <a:ln w="19050">
            <a:solidFill>
              <a:srgbClr val="2DD4BF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Shape 10"/>
          <p:cNvSpPr/>
          <p:nvPr/>
        </p:nvSpPr>
        <p:spPr>
          <a:xfrm>
            <a:off x="8458200" y="175564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D38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5" name="Image 2" descr="/home/claude/chatihna/icons/microphone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7928" y="1865376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58200" y="2331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Échanges Multimédias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458200" y="272491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fluide de notes audio haute fidélité et d'images optimisées en ligne.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37947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11A2E"/>
          </a:solidFill>
          <a:ln w="19050">
            <a:solidFill>
              <a:srgbClr val="3B82F6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Shape 14"/>
          <p:cNvSpPr/>
          <p:nvPr/>
        </p:nvSpPr>
        <p:spPr>
          <a:xfrm>
            <a:off x="777240" y="399592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72A4A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0" name="Image 3" descr="/home/claude/chatihna/icons/user_circle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4105656"/>
            <a:ext cx="283464" cy="2834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7240" y="45720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Présence en Ligne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777240" y="496519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en temps réel des statuts d'activité (En ligne / Hors ligne) et des accusés de lecture.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4389120" y="37947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11A2E"/>
          </a:solidFill>
          <a:ln w="19050">
            <a:solidFill>
              <a:srgbClr val="3B82F6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4" name="Shape 18"/>
          <p:cNvSpPr/>
          <p:nvPr/>
        </p:nvSpPr>
        <p:spPr>
          <a:xfrm>
            <a:off x="4617720" y="399592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72A4A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5" name="Image 4" descr="/home/claude/chatihna/icons/mobile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7448" y="4105656"/>
            <a:ext cx="283464" cy="28346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617720" y="45720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Responsive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4617720" y="496519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intuitive et adaptable, garantissant une utilisation fluide sur mobile et desktop.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8229600" y="37947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11A2E"/>
          </a:solidFill>
          <a:ln w="19050">
            <a:solidFill>
              <a:srgbClr val="3B82F6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9" name="Shape 22"/>
          <p:cNvSpPr/>
          <p:nvPr/>
        </p:nvSpPr>
        <p:spPr>
          <a:xfrm>
            <a:off x="8458200" y="399592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72A4A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30" name="Image 5" descr="/home/claude/chatihna/icons/shield_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67928" y="4105656"/>
            <a:ext cx="283464" cy="28346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458200" y="45720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Fiabilité des Données</a:t>
            </a:r>
            <a:endParaRPr lang="en-US" sz="1700" dirty="0"/>
          </a:p>
        </p:txBody>
      </p:sp>
      <p:sp>
        <p:nvSpPr>
          <p:cNvPr id="32" name="Text 24"/>
          <p:cNvSpPr/>
          <p:nvPr/>
        </p:nvSpPr>
        <p:spPr>
          <a:xfrm>
            <a:off x="8458200" y="496519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et persistance robuste des relations entre utilisateurs, salons et messages.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UTILISÉES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111A2E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72A4A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/home/claude/chatihna/icons/laptopcode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075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920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Service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54480" y="22585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dynamique et Single Page Application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22960" y="292608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0E1525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6"/>
          <p:cNvSpPr/>
          <p:nvPr/>
        </p:nvSpPr>
        <p:spPr>
          <a:xfrm>
            <a:off x="822960" y="2926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423160" y="2926080"/>
            <a:ext cx="1243584" cy="365760"/>
          </a:xfrm>
          <a:prstGeom prst="roundRect">
            <a:avLst>
              <a:gd name="adj" fmla="val 50000"/>
            </a:avLst>
          </a:prstGeom>
          <a:solidFill>
            <a:srgbClr val="0E1525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8"/>
          <p:cNvSpPr/>
          <p:nvPr/>
        </p:nvSpPr>
        <p:spPr>
          <a:xfrm>
            <a:off x="2423160" y="292608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803904" y="2926080"/>
            <a:ext cx="1682496" cy="365760"/>
          </a:xfrm>
          <a:prstGeom prst="roundRect">
            <a:avLst>
              <a:gd name="adj" fmla="val 50000"/>
            </a:avLst>
          </a:prstGeom>
          <a:solidFill>
            <a:srgbClr val="0E1525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0"/>
          <p:cNvSpPr/>
          <p:nvPr/>
        </p:nvSpPr>
        <p:spPr>
          <a:xfrm>
            <a:off x="3803904" y="292608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309360" y="169164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111A2E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Shape 12"/>
          <p:cNvSpPr/>
          <p:nvPr/>
        </p:nvSpPr>
        <p:spPr>
          <a:xfrm>
            <a:off x="6583680" y="19659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F3D38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6" name="Image 1" descr="/home/claude/chatihna/icons/server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2075688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15200" y="1920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&amp; Base de données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7315200" y="22585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robuste et stockage de documents asynchrone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583680" y="2926080"/>
            <a:ext cx="1133856" cy="365760"/>
          </a:xfrm>
          <a:prstGeom prst="roundRect">
            <a:avLst>
              <a:gd name="adj" fmla="val 50000"/>
            </a:avLst>
          </a:prstGeom>
          <a:solidFill>
            <a:srgbClr val="0E1525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6"/>
          <p:cNvSpPr/>
          <p:nvPr/>
        </p:nvSpPr>
        <p:spPr>
          <a:xfrm>
            <a:off x="6583680" y="292608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7854696" y="292608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0E1525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18"/>
          <p:cNvSpPr/>
          <p:nvPr/>
        </p:nvSpPr>
        <p:spPr>
          <a:xfrm>
            <a:off x="7854696" y="2926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9454896" y="2926080"/>
            <a:ext cx="1133856" cy="365760"/>
          </a:xfrm>
          <a:prstGeom prst="roundRect">
            <a:avLst>
              <a:gd name="adj" fmla="val 50000"/>
            </a:avLst>
          </a:prstGeom>
          <a:solidFill>
            <a:srgbClr val="0E1525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0"/>
          <p:cNvSpPr/>
          <p:nvPr/>
        </p:nvSpPr>
        <p:spPr>
          <a:xfrm>
            <a:off x="9454896" y="292608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548640" y="388620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111A2E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6" name="Shape 22"/>
          <p:cNvSpPr/>
          <p:nvPr/>
        </p:nvSpPr>
        <p:spPr>
          <a:xfrm>
            <a:off x="822960" y="41605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72A4A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7" name="Image 2" descr="/home/claude/chatihna/icons/sitemap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270248"/>
            <a:ext cx="329184" cy="32918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554480" y="4114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Messagerie Temps Réel</a:t>
            </a:r>
            <a:endParaRPr lang="en-US" sz="1700" dirty="0"/>
          </a:p>
        </p:txBody>
      </p:sp>
      <p:sp>
        <p:nvSpPr>
          <p:cNvPr id="29" name="Text 24"/>
          <p:cNvSpPr/>
          <p:nvPr/>
        </p:nvSpPr>
        <p:spPr>
          <a:xfrm>
            <a:off x="1554480" y="44531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continue des événements socket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822960" y="5120640"/>
            <a:ext cx="1353312" cy="365760"/>
          </a:xfrm>
          <a:prstGeom prst="roundRect">
            <a:avLst>
              <a:gd name="adj" fmla="val 50000"/>
            </a:avLst>
          </a:prstGeom>
          <a:solidFill>
            <a:srgbClr val="0E1525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Text 26"/>
          <p:cNvSpPr/>
          <p:nvPr/>
        </p:nvSpPr>
        <p:spPr>
          <a:xfrm>
            <a:off x="822960" y="512064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2313432" y="512064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0E1525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Text 28"/>
          <p:cNvSpPr/>
          <p:nvPr/>
        </p:nvSpPr>
        <p:spPr>
          <a:xfrm>
            <a:off x="2313432" y="5120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6309360" y="388620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111A2E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5" name="Shape 30"/>
          <p:cNvSpPr/>
          <p:nvPr/>
        </p:nvSpPr>
        <p:spPr>
          <a:xfrm>
            <a:off x="6583680" y="41605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72A4A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36" name="Image 3" descr="/home/claude/chatihna/icons/cloud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4270248"/>
            <a:ext cx="329184" cy="32918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315200" y="4114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 Cloud Externes</a:t>
            </a:r>
            <a:endParaRPr lang="en-US" sz="1700" dirty="0"/>
          </a:p>
        </p:txBody>
      </p:sp>
      <p:sp>
        <p:nvSpPr>
          <p:cNvPr id="38" name="Text 32"/>
          <p:cNvSpPr/>
          <p:nvPr/>
        </p:nvSpPr>
        <p:spPr>
          <a:xfrm>
            <a:off x="7315200" y="44531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Délégation sécurisée de l'authentification et du CDN</a:t>
            </a:r>
            <a:endParaRPr lang="en-US" sz="1250" dirty="0"/>
          </a:p>
        </p:txBody>
      </p:sp>
      <p:sp>
        <p:nvSpPr>
          <p:cNvPr id="39" name="Shape 33"/>
          <p:cNvSpPr/>
          <p:nvPr/>
        </p:nvSpPr>
        <p:spPr>
          <a:xfrm>
            <a:off x="6583680" y="5120640"/>
            <a:ext cx="1792224" cy="365760"/>
          </a:xfrm>
          <a:prstGeom prst="roundRect">
            <a:avLst>
              <a:gd name="adj" fmla="val 50000"/>
            </a:avLst>
          </a:prstGeom>
          <a:solidFill>
            <a:srgbClr val="0E1525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Text 34"/>
          <p:cNvSpPr/>
          <p:nvPr/>
        </p:nvSpPr>
        <p:spPr>
          <a:xfrm>
            <a:off x="6583680" y="51206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150" dirty="0"/>
          </a:p>
        </p:txBody>
      </p:sp>
      <p:sp>
        <p:nvSpPr>
          <p:cNvPr id="41" name="Shape 35"/>
          <p:cNvSpPr/>
          <p:nvPr/>
        </p:nvSpPr>
        <p:spPr>
          <a:xfrm>
            <a:off x="8513064" y="5120640"/>
            <a:ext cx="1901952" cy="365760"/>
          </a:xfrm>
          <a:prstGeom prst="roundRect">
            <a:avLst>
              <a:gd name="adj" fmla="val 50000"/>
            </a:avLst>
          </a:prstGeom>
          <a:solidFill>
            <a:srgbClr val="0E1525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Text 36"/>
          <p:cNvSpPr/>
          <p:nvPr/>
        </p:nvSpPr>
        <p:spPr>
          <a:xfrm>
            <a:off x="8513064" y="51206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API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SYSTÈME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Modulaire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de données et d'événements du projet décrits de bout en bout :</a:t>
            </a:r>
            <a:endParaRPr lang="en-US" sz="1350" dirty="0"/>
          </a:p>
        </p:txBody>
      </p:sp>
      <p:pic>
        <p:nvPicPr>
          <p:cNvPr id="5" name="Image 0" descr="/home/claude/chatihna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5176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2606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: </a:t>
            </a: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Construit sous Next.js 14, assurant l'interface client et la liaison WebSocket persistante.</a:t>
            </a:r>
            <a:endParaRPr lang="en-US" sz="1350" dirty="0"/>
          </a:p>
        </p:txBody>
      </p:sp>
      <p:pic>
        <p:nvPicPr>
          <p:cNvPr id="7" name="Image 1" descr="/home/claude/chatihna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0332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2688" y="36576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Node.js : </a:t>
            </a: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Contrôleur API REST et serveur Socket.IO pour coordonner les flux d'événements.</a:t>
            </a:r>
            <a:endParaRPr lang="en-US" sz="1350" dirty="0"/>
          </a:p>
        </p:txBody>
      </p:sp>
      <p:pic>
        <p:nvPicPr>
          <p:cNvPr id="9" name="Image 2" descr="/home/claude/chatihna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754880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2688" y="4709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SaaS : </a:t>
            </a: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pour la data, Firebase pour l'auth, et Cloudinary pour les assets multimédias.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6316168" y="855406"/>
            <a:ext cx="5486400" cy="5473912"/>
          </a:xfrm>
          <a:prstGeom prst="roundRect">
            <a:avLst>
              <a:gd name="adj" fmla="val 1481"/>
            </a:avLst>
          </a:prstGeom>
          <a:solidFill>
            <a:schemeClr val="bg1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35" name="Text 25"/>
          <p:cNvSpPr/>
          <p:nvPr/>
        </p:nvSpPr>
        <p:spPr>
          <a:xfrm>
            <a:off x="6400800" y="5577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en couches : présentation, logique métier, persistance &amp; services tiers</a:t>
            </a:r>
            <a:endParaRPr lang="en-US" sz="105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D80FD36-CD82-CCC7-68B9-7FE0A3A6C8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124" y="960120"/>
            <a:ext cx="5176487" cy="51764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DONNÉES (MLD)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NoSQL Relationnelle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schéma de données structure la persistance des entités de messagerie :</a:t>
            </a:r>
            <a:endParaRPr lang="en-US" sz="1350" dirty="0"/>
          </a:p>
        </p:txBody>
      </p:sp>
      <p:pic>
        <p:nvPicPr>
          <p:cNvPr id="5" name="Image 0" descr="/home/claude/chatihna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5176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2606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: </a:t>
            </a: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 l'identité, le mot de passe, l'avatar et l'état de présence en ligne.</a:t>
            </a:r>
            <a:endParaRPr lang="en-US" sz="1350" dirty="0"/>
          </a:p>
        </p:txBody>
      </p:sp>
      <p:pic>
        <p:nvPicPr>
          <p:cNvPr id="7" name="Image 1" descr="/home/claude/chatihna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0332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2688" y="36576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 : </a:t>
            </a: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 deux participants uniques pour les salons de discussion privés (Conversations).</a:t>
            </a:r>
            <a:endParaRPr lang="en-US" sz="1350" dirty="0"/>
          </a:p>
        </p:txBody>
      </p:sp>
      <p:pic>
        <p:nvPicPr>
          <p:cNvPr id="9" name="Image 2" descr="/home/claude/chatihna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754880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2688" y="4709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: </a:t>
            </a: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 le contenu, le type (text/audio/image) et l'accusé de réception (isSeen).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6156960" y="1760706"/>
            <a:ext cx="5486400" cy="4192622"/>
          </a:xfrm>
          <a:prstGeom prst="roundRect">
            <a:avLst>
              <a:gd name="adj" fmla="val 1481"/>
            </a:avLst>
          </a:prstGeom>
          <a:solidFill>
            <a:srgbClr val="111A2E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 dirty="0"/>
          </a:p>
        </p:txBody>
      </p:sp>
      <p:sp>
        <p:nvSpPr>
          <p:cNvPr id="31" name="Text 26"/>
          <p:cNvSpPr/>
          <p:nvPr/>
        </p:nvSpPr>
        <p:spPr>
          <a:xfrm>
            <a:off x="6400800" y="54635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: un utilisateur participe à plusieurs chats ; chaque chat contient plusieurs messages</a:t>
            </a:r>
            <a:endParaRPr lang="en-US" sz="105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A099078F-4E6D-04B1-140A-A420394F5F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305" t="5239" r="16136" b="10295"/>
          <a:stretch>
            <a:fillRect/>
          </a:stretch>
        </p:blipFill>
        <p:spPr>
          <a:xfrm>
            <a:off x="6522719" y="2148840"/>
            <a:ext cx="4754881" cy="31671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DE L'APPLICATION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111A2E"/>
          </a:solidFill>
          <a:ln w="19050">
            <a:solidFill>
              <a:srgbClr val="2DD4BF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804672" y="1764792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F3D38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/home/claude/chatihna/icons/user_shield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901952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24688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Accès &amp; Profil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04672" y="288036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&amp; Paramètres :</a:t>
            </a:r>
            <a:endParaRPr lang="en-US" sz="1250" dirty="0"/>
          </a:p>
        </p:txBody>
      </p:sp>
      <p:pic>
        <p:nvPicPr>
          <p:cNvPr id="8" name="Image 1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401568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3383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compte sécurisée.</a:t>
            </a:r>
            <a:endParaRPr lang="en-US" sz="1350" dirty="0"/>
          </a:p>
        </p:txBody>
      </p:sp>
      <p:pic>
        <p:nvPicPr>
          <p:cNvPr id="10" name="Image 2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995928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39776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d'avatar profil.</a:t>
            </a:r>
            <a:endParaRPr lang="en-US" sz="1350" dirty="0"/>
          </a:p>
        </p:txBody>
      </p:sp>
      <p:pic>
        <p:nvPicPr>
          <p:cNvPr id="12" name="Image 3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590288"/>
            <a:ext cx="219456" cy="2194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43000" y="45720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session locale.</a:t>
            </a:r>
            <a:endParaRPr lang="en-US" sz="1350" dirty="0"/>
          </a:p>
        </p:txBody>
      </p:sp>
      <p:sp>
        <p:nvSpPr>
          <p:cNvPr id="14" name="Shape 8"/>
          <p:cNvSpPr/>
          <p:nvPr/>
        </p:nvSpPr>
        <p:spPr>
          <a:xfrm>
            <a:off x="4389120" y="150876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111A2E"/>
          </a:solidFill>
          <a:ln w="19050">
            <a:solidFill>
              <a:srgbClr val="2DD4BF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Shape 9"/>
          <p:cNvSpPr/>
          <p:nvPr/>
        </p:nvSpPr>
        <p:spPr>
          <a:xfrm>
            <a:off x="4645152" y="1764792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F3D38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6" name="Image 4" descr="/home/claude/chatihna/icons/commentdots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312" y="1901952"/>
            <a:ext cx="320040" cy="3200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645152" y="24688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Messagerie Directe</a:t>
            </a:r>
            <a:endParaRPr lang="en-US" sz="1900" dirty="0"/>
          </a:p>
        </p:txBody>
      </p:sp>
      <p:sp>
        <p:nvSpPr>
          <p:cNvPr id="18" name="Text 11"/>
          <p:cNvSpPr/>
          <p:nvPr/>
        </p:nvSpPr>
        <p:spPr>
          <a:xfrm>
            <a:off x="4645152" y="288036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Privé Interactif :</a:t>
            </a:r>
            <a:endParaRPr lang="en-US" sz="1250" dirty="0"/>
          </a:p>
        </p:txBody>
      </p:sp>
      <p:pic>
        <p:nvPicPr>
          <p:cNvPr id="19" name="Image 5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3401568"/>
            <a:ext cx="219456" cy="21945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983480" y="3383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 1-to-1 en temps réel.</a:t>
            </a:r>
            <a:endParaRPr lang="en-US" sz="1350" dirty="0"/>
          </a:p>
        </p:txBody>
      </p:sp>
      <p:pic>
        <p:nvPicPr>
          <p:cNvPr id="21" name="Image 6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3995928"/>
            <a:ext cx="219456" cy="21945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983480" y="39776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de saisie dynamique.</a:t>
            </a:r>
            <a:endParaRPr lang="en-US" sz="1350" dirty="0"/>
          </a:p>
        </p:txBody>
      </p:sp>
      <p:pic>
        <p:nvPicPr>
          <p:cNvPr id="23" name="Image 7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4590288"/>
            <a:ext cx="219456" cy="219456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4983480" y="45720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 discussion persistant.</a:t>
            </a:r>
            <a:endParaRPr lang="en-US" sz="1350" dirty="0"/>
          </a:p>
        </p:txBody>
      </p:sp>
      <p:sp>
        <p:nvSpPr>
          <p:cNvPr id="25" name="Shape 15"/>
          <p:cNvSpPr/>
          <p:nvPr/>
        </p:nvSpPr>
        <p:spPr>
          <a:xfrm>
            <a:off x="8229600" y="150876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111A2E"/>
          </a:solidFill>
          <a:ln w="19050">
            <a:solidFill>
              <a:srgbClr val="2DD4BF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6" name="Shape 16"/>
          <p:cNvSpPr/>
          <p:nvPr/>
        </p:nvSpPr>
        <p:spPr>
          <a:xfrm>
            <a:off x="8485632" y="1764792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F3D38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7" name="Image 8" descr="/home/claude/chatihna/icons/microphone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2792" y="1901952"/>
            <a:ext cx="320040" cy="32004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8485632" y="24688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Médias &amp; Statut</a:t>
            </a:r>
            <a:endParaRPr lang="en-US" sz="1900" dirty="0"/>
          </a:p>
        </p:txBody>
      </p:sp>
      <p:sp>
        <p:nvSpPr>
          <p:cNvPr id="29" name="Text 18"/>
          <p:cNvSpPr/>
          <p:nvPr/>
        </p:nvSpPr>
        <p:spPr>
          <a:xfrm>
            <a:off x="8485632" y="288036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Audio, Images &amp; États :</a:t>
            </a:r>
            <a:endParaRPr lang="en-US" sz="1250" dirty="0"/>
          </a:p>
        </p:txBody>
      </p:sp>
      <p:pic>
        <p:nvPicPr>
          <p:cNvPr id="30" name="Image 9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3401568"/>
            <a:ext cx="219456" cy="219456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8823960" y="3383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Enregistreur audio natif.</a:t>
            </a:r>
            <a:endParaRPr lang="en-US" sz="1350" dirty="0"/>
          </a:p>
        </p:txBody>
      </p:sp>
      <p:pic>
        <p:nvPicPr>
          <p:cNvPr id="32" name="Image 10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3995928"/>
            <a:ext cx="219456" cy="219456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8823960" y="39776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d'images compressées.</a:t>
            </a:r>
            <a:endParaRPr lang="en-US" sz="1350" dirty="0"/>
          </a:p>
        </p:txBody>
      </p:sp>
      <p:pic>
        <p:nvPicPr>
          <p:cNvPr id="34" name="Image 11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4590288"/>
            <a:ext cx="219456" cy="219456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8823960" y="45720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Accusés de lecture (Seen).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DE L'APPLICATION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4937760" cy="4480560"/>
          </a:xfrm>
          <a:prstGeom prst="roundRect">
            <a:avLst>
              <a:gd name="adj" fmla="val 1633"/>
            </a:avLst>
          </a:prstGeom>
          <a:solidFill>
            <a:srgbClr val="111A2E"/>
          </a:solidFill>
          <a:ln w="19050">
            <a:solidFill>
              <a:srgbClr val="2DD4BF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868680" y="1874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Parcours Scénarisé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68680" y="24231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fonctionnelle en temps réel (durée cible : 4 à 6 minutes conformément aux critères d'évaluation de soutenance).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3520440"/>
            <a:ext cx="4297680" cy="1554480"/>
          </a:xfrm>
          <a:prstGeom prst="roundRect">
            <a:avLst>
              <a:gd name="adj" fmla="val 3529"/>
            </a:avLst>
          </a:prstGeom>
          <a:solidFill>
            <a:srgbClr val="0E1525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1187956" y="4050694"/>
            <a:ext cx="3659128" cy="8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</a:t>
            </a:r>
            <a:r>
              <a:rPr 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chati-hna</a:t>
            </a:r>
            <a:r>
              <a:rPr 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:3000/</a:t>
            </a:r>
            <a:endParaRPr lang="en-US" sz="2400" b="1" i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760720" y="1600200"/>
            <a:ext cx="2788920" cy="2103120"/>
          </a:xfrm>
          <a:prstGeom prst="roundRect">
            <a:avLst>
              <a:gd name="adj" fmla="val 3478"/>
            </a:avLst>
          </a:prstGeom>
          <a:solidFill>
            <a:srgbClr val="111A2E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6835140" y="1920240"/>
            <a:ext cx="640080" cy="640080"/>
          </a:xfrm>
          <a:prstGeom prst="ellipse">
            <a:avLst/>
          </a:prstGeom>
          <a:solidFill>
            <a:srgbClr val="0F3D38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0" name="Image 0" descr="/home/claude/chatihna/icons/signin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0588" y="2075688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760720" y="26974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Connexion / Profil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943600" y="31363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compte et avatar.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823960" y="1600200"/>
            <a:ext cx="2788920" cy="2103120"/>
          </a:xfrm>
          <a:prstGeom prst="roundRect">
            <a:avLst>
              <a:gd name="adj" fmla="val 3478"/>
            </a:avLst>
          </a:prstGeom>
          <a:solidFill>
            <a:srgbClr val="111A2E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Shape 11"/>
          <p:cNvSpPr/>
          <p:nvPr/>
        </p:nvSpPr>
        <p:spPr>
          <a:xfrm>
            <a:off x="9898380" y="1920240"/>
            <a:ext cx="640080" cy="640080"/>
          </a:xfrm>
          <a:prstGeom prst="ellipse">
            <a:avLst/>
          </a:prstGeom>
          <a:solidFill>
            <a:srgbClr val="0F3D38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5" name="Image 1" descr="/home/claude/chatihna/icons/commentdots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3828" y="207568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823960" y="26974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Chat Temps Réel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9006840" y="31363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instantanée texte.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760720" y="3977640"/>
            <a:ext cx="2788920" cy="2103120"/>
          </a:xfrm>
          <a:prstGeom prst="roundRect">
            <a:avLst>
              <a:gd name="adj" fmla="val 3478"/>
            </a:avLst>
          </a:prstGeom>
          <a:solidFill>
            <a:srgbClr val="111A2E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Shape 15"/>
          <p:cNvSpPr/>
          <p:nvPr/>
        </p:nvSpPr>
        <p:spPr>
          <a:xfrm>
            <a:off x="6835140" y="4297680"/>
            <a:ext cx="640080" cy="640080"/>
          </a:xfrm>
          <a:prstGeom prst="ellipse">
            <a:avLst/>
          </a:prstGeom>
          <a:solidFill>
            <a:srgbClr val="172A4A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0" name="Image 2" descr="/home/claude/chatihna/icons/microphone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0588" y="445312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760720" y="50749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Envoi Audio / Image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5943600" y="55138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d'images et voix.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8823960" y="3977640"/>
            <a:ext cx="2788920" cy="2103120"/>
          </a:xfrm>
          <a:prstGeom prst="roundRect">
            <a:avLst>
              <a:gd name="adj" fmla="val 3478"/>
            </a:avLst>
          </a:prstGeom>
          <a:solidFill>
            <a:srgbClr val="111A2E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4" name="Shape 19"/>
          <p:cNvSpPr/>
          <p:nvPr/>
        </p:nvSpPr>
        <p:spPr>
          <a:xfrm>
            <a:off x="9898380" y="4297680"/>
            <a:ext cx="640080" cy="640080"/>
          </a:xfrm>
          <a:prstGeom prst="ellipse">
            <a:avLst/>
          </a:prstGeom>
          <a:solidFill>
            <a:srgbClr val="172A4A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5" name="Image 3" descr="/home/claude/chatihna/icons/eye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3828" y="4453128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823960" y="50749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Seen &amp; Status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006840" y="55138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Accusé de lecture en direct.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TECHNIQUES &amp; SOLUTIONS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111A2E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3A1419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/home/claude/chatihna/icons/warning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99339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74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Défis Rencontrés</a:t>
            </a:r>
            <a:endParaRPr lang="en-US" sz="2000" dirty="0"/>
          </a:p>
        </p:txBody>
      </p:sp>
      <p:pic>
        <p:nvPicPr>
          <p:cNvPr id="7" name="Image 1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2633472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60604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de Synchronisation Socket : </a:t>
            </a: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Micro-coupures internet déconnectant les clients.</a:t>
            </a:r>
            <a:endParaRPr lang="en-US" sz="1350" dirty="0"/>
          </a:p>
        </p:txBody>
      </p:sp>
      <p:pic>
        <p:nvPicPr>
          <p:cNvPr id="9" name="Image 2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712464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3685032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de Chargement Médias : </a:t>
            </a: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Téléversement d'images brutes non compressées trop volumineuses.</a:t>
            </a:r>
            <a:endParaRPr lang="en-US" sz="1350" dirty="0"/>
          </a:p>
        </p:txBody>
      </p:sp>
      <p:pic>
        <p:nvPicPr>
          <p:cNvPr id="11" name="Image 3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791456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4764024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Accusés de Lecture en Direct : </a:t>
            </a: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d'optimisation d'état "Seen" instantané multi-fenêtres.</a:t>
            </a:r>
            <a:endParaRPr lang="en-US" sz="1350" dirty="0"/>
          </a:p>
        </p:txBody>
      </p:sp>
      <p:sp>
        <p:nvSpPr>
          <p:cNvPr id="13" name="Shape 7"/>
          <p:cNvSpPr/>
          <p:nvPr/>
        </p:nvSpPr>
        <p:spPr>
          <a:xfrm>
            <a:off x="6309360" y="160020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111A2E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Shape 8"/>
          <p:cNvSpPr/>
          <p:nvPr/>
        </p:nvSpPr>
        <p:spPr>
          <a:xfrm>
            <a:off x="6583680" y="1874520"/>
            <a:ext cx="457200" cy="457200"/>
          </a:xfrm>
          <a:prstGeom prst="ellipse">
            <a:avLst/>
          </a:prstGeom>
          <a:solidFill>
            <a:srgbClr val="0F3D38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5" name="Image 4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1993392"/>
            <a:ext cx="219456" cy="2194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178040" y="1874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Solutions Implémentées</a:t>
            </a:r>
            <a:endParaRPr lang="en-US" sz="2000" dirty="0"/>
          </a:p>
        </p:txBody>
      </p:sp>
      <p:pic>
        <p:nvPicPr>
          <p:cNvPr id="17" name="Image 5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2633472"/>
            <a:ext cx="237744" cy="23774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995160" y="260604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Reconnexion Automatique : </a:t>
            </a: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reconnexion native Socket.IO et stockage cache temporaire local.</a:t>
            </a:r>
            <a:endParaRPr lang="en-US" sz="1350" dirty="0"/>
          </a:p>
        </p:txBody>
      </p:sp>
      <p:pic>
        <p:nvPicPr>
          <p:cNvPr id="19" name="Image 6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3712464"/>
            <a:ext cx="237744" cy="237744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995160" y="3685032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CDN : </a:t>
            </a: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des API Cloudinary pour compresser les médias côté frontend avant upload.</a:t>
            </a:r>
            <a:endParaRPr lang="en-US" sz="1350" dirty="0"/>
          </a:p>
        </p:txBody>
      </p:sp>
      <p:pic>
        <p:nvPicPr>
          <p:cNvPr id="21" name="Image 7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4791456"/>
            <a:ext cx="237744" cy="237744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995160" y="4764024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 Dédiés : </a:t>
            </a: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Socket spécifique pour diffuser l'état de lecture par événement ciblé.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486400" cy="3840480"/>
          </a:xfrm>
          <a:prstGeom prst="roundRect">
            <a:avLst>
              <a:gd name="adj" fmla="val 1905"/>
            </a:avLst>
          </a:prstGeom>
          <a:solidFill>
            <a:srgbClr val="111A2E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0F3D38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/home/claude/chatihna/icons/star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99339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74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 Général</a:t>
            </a:r>
            <a:endParaRPr lang="en-US" sz="2000" dirty="0"/>
          </a:p>
        </p:txBody>
      </p:sp>
      <p:pic>
        <p:nvPicPr>
          <p:cNvPr id="7" name="Image 1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2587752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56032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atteints :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fonctionnelle, stable, asynchrone et hautement réactive.</a:t>
            </a:r>
            <a:endParaRPr lang="en-US" sz="1300" dirty="0"/>
          </a:p>
        </p:txBody>
      </p:sp>
      <p:pic>
        <p:nvPicPr>
          <p:cNvPr id="9" name="Image 2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502152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347472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Qualitatif :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unifiée fluide, conforme aux critères de responsivité SOLICODE.</a:t>
            </a:r>
            <a:endParaRPr lang="en-US" sz="1300" dirty="0"/>
          </a:p>
        </p:txBody>
      </p:sp>
      <p:pic>
        <p:nvPicPr>
          <p:cNvPr id="11" name="Image 3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416552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438912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Évolutive :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propre, modulaire et documenté facilitant la maintenance future.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6309360" y="1581912"/>
            <a:ext cx="5486400" cy="3840480"/>
          </a:xfrm>
          <a:prstGeom prst="roundRect">
            <a:avLst>
              <a:gd name="adj" fmla="val 1905"/>
            </a:avLst>
          </a:prstGeom>
          <a:solidFill>
            <a:srgbClr val="111A2E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Shape 8"/>
          <p:cNvSpPr/>
          <p:nvPr/>
        </p:nvSpPr>
        <p:spPr>
          <a:xfrm>
            <a:off x="6583680" y="1874520"/>
            <a:ext cx="457200" cy="457200"/>
          </a:xfrm>
          <a:prstGeom prst="ellipse">
            <a:avLst/>
          </a:prstGeom>
          <a:solidFill>
            <a:srgbClr val="172A4A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5" name="Image 4" descr="/home/claude/chatihna/icons/rocket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552" y="1993392"/>
            <a:ext cx="219456" cy="2194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178040" y="1874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 d'Évolution</a:t>
            </a:r>
            <a:endParaRPr lang="en-US" sz="2000" dirty="0"/>
          </a:p>
        </p:txBody>
      </p:sp>
      <p:sp>
        <p:nvSpPr>
          <p:cNvPr id="18" name="Text 10"/>
          <p:cNvSpPr/>
          <p:nvPr/>
        </p:nvSpPr>
        <p:spPr>
          <a:xfrm>
            <a:off x="6995160" y="256032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</p:txBody>
      </p:sp>
      <p:pic>
        <p:nvPicPr>
          <p:cNvPr id="19" name="Image 6" descr="/home/claude/chatihna/icons/check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2563122"/>
            <a:ext cx="237744" cy="237744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995160" y="2563122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push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mobiles et sur navigateur hors-ligne.</a:t>
            </a:r>
            <a:endParaRPr lang="en-US" sz="1300" dirty="0"/>
          </a:p>
        </p:txBody>
      </p:sp>
      <p:pic>
        <p:nvPicPr>
          <p:cNvPr id="21" name="Image 7" descr="/home/claude/chatihna/icons/check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536" y="3474720"/>
            <a:ext cx="237744" cy="237744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995160" y="342900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salons de discussion et de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multiples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complexes.</a:t>
            </a:r>
            <a:endParaRPr lang="en-US" sz="1300" dirty="0"/>
          </a:p>
        </p:txBody>
      </p:sp>
      <p:pic>
        <p:nvPicPr>
          <p:cNvPr id="23" name="Image 8" descr="/home/claude/chatihna/icons/check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4416552"/>
            <a:ext cx="237744" cy="237744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6995160" y="438912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de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de bout en bout (E2EE)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une sécurité absolue.</a:t>
            </a:r>
            <a:endParaRPr lang="en-US" sz="1300" dirty="0"/>
          </a:p>
        </p:txBody>
      </p:sp>
      <p:sp>
        <p:nvSpPr>
          <p:cNvPr id="25" name="Text 14"/>
          <p:cNvSpPr/>
          <p:nvPr/>
        </p:nvSpPr>
        <p:spPr>
          <a:xfrm>
            <a:off x="548640" y="5623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 !</a:t>
            </a:r>
            <a:endParaRPr lang="en-US" sz="2400" dirty="0"/>
          </a:p>
        </p:txBody>
      </p:sp>
      <p:sp>
        <p:nvSpPr>
          <p:cNvPr id="26" name="Text 15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à la discussion et à vos questions.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885</Words>
  <Application>Microsoft Office PowerPoint</Application>
  <PresentationFormat>Widescreen</PresentationFormat>
  <Paragraphs>119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Chatihna - Soutenance</dc:title>
  <dc:subject>PptxGenJS Presentation</dc:subject>
  <dc:creator>Sohail Koutaya</dc:creator>
  <cp:lastModifiedBy>sou hail</cp:lastModifiedBy>
  <cp:revision>3</cp:revision>
  <dcterms:created xsi:type="dcterms:W3CDTF">2026-06-15T11:45:12Z</dcterms:created>
  <dcterms:modified xsi:type="dcterms:W3CDTF">2026-06-15T19:00:07Z</dcterms:modified>
</cp:coreProperties>
</file>