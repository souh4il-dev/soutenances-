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DB7402-8319-40B2-BEDB-06D7588DB9B8}" v="5" dt="2026-06-15T16:33:51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 hail" userId="60450b460ed6f840" providerId="LiveId" clId="{58ACDF10-68CB-43EC-B406-137D5A4A2954}"/>
    <pc:docChg chg="undo custSel delSld modSld">
      <pc:chgData name="sou hail" userId="60450b460ed6f840" providerId="LiveId" clId="{58ACDF10-68CB-43EC-B406-137D5A4A2954}" dt="2026-06-15T16:46:37.647" v="84" actId="1076"/>
      <pc:docMkLst>
        <pc:docMk/>
      </pc:docMkLst>
      <pc:sldChg chg="addSp delSp modSp mod">
        <pc:chgData name="sou hail" userId="60450b460ed6f840" providerId="LiveId" clId="{58ACDF10-68CB-43EC-B406-137D5A4A2954}" dt="2026-06-15T16:33:48.274" v="60" actId="21"/>
        <pc:sldMkLst>
          <pc:docMk/>
          <pc:sldMk cId="0" sldId="260"/>
        </pc:sldMkLst>
        <pc:spChg chg="add del mod">
          <ac:chgData name="sou hail" userId="60450b460ed6f840" providerId="LiveId" clId="{58ACDF10-68CB-43EC-B406-137D5A4A2954}" dt="2026-06-15T16:31:22.646" v="44" actId="207"/>
          <ac:spMkLst>
            <pc:docMk/>
            <pc:sldMk cId="0" sldId="260"/>
            <ac:spMk id="11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14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15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20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21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22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29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30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24.320" v="4" actId="478"/>
          <ac:spMkLst>
            <pc:docMk/>
            <pc:sldMk cId="0" sldId="260"/>
            <ac:spMk id="31" creationId="{00000000-0000-0000-0000-000000000000}"/>
          </ac:spMkLst>
        </pc:spChg>
        <pc:spChg chg="add del mod">
          <ac:chgData name="sou hail" userId="60450b460ed6f840" providerId="LiveId" clId="{58ACDF10-68CB-43EC-B406-137D5A4A2954}" dt="2026-06-15T16:23:13.012" v="2" actId="1076"/>
          <ac:spMkLst>
            <pc:docMk/>
            <pc:sldMk cId="0" sldId="260"/>
            <ac:spMk id="35" creationId="{00000000-0000-0000-0000-000000000000}"/>
          </ac:spMkLst>
        </pc:spChg>
        <pc:spChg chg="add mod">
          <ac:chgData name="sou hail" userId="60450b460ed6f840" providerId="LiveId" clId="{58ACDF10-68CB-43EC-B406-137D5A4A2954}" dt="2026-06-15T16:31:05.652" v="43" actId="767"/>
          <ac:spMkLst>
            <pc:docMk/>
            <pc:sldMk cId="0" sldId="260"/>
            <ac:spMk id="39" creationId="{0B3F41C8-B687-3F23-8E49-2962F51BE9FB}"/>
          </ac:spMkLst>
        </pc:spChg>
        <pc:graphicFrameChg chg="add del mod">
          <ac:chgData name="sou hail" userId="60450b460ed6f840" providerId="LiveId" clId="{58ACDF10-68CB-43EC-B406-137D5A4A2954}" dt="2026-06-15T16:30:51.417" v="37" actId="478"/>
          <ac:graphicFrameMkLst>
            <pc:docMk/>
            <pc:sldMk cId="0" sldId="260"/>
            <ac:graphicFrameMk id="38" creationId="{7CBFF889-9734-CA66-32BC-0F93D84042A5}"/>
          </ac:graphicFrameMkLst>
        </pc:graphicFrameChg>
        <pc:picChg chg="add mod">
          <ac:chgData name="sou hail" userId="60450b460ed6f840" providerId="LiveId" clId="{58ACDF10-68CB-43EC-B406-137D5A4A2954}" dt="2026-06-15T16:25:09.638" v="15" actId="1076"/>
          <ac:picMkLst>
            <pc:docMk/>
            <pc:sldMk cId="0" sldId="260"/>
            <ac:picMk id="37" creationId="{0D80FD36-CD82-CCC7-68B9-7FE0A3A6C8E3}"/>
          </ac:picMkLst>
        </pc:picChg>
        <pc:picChg chg="add del mod modCrop">
          <ac:chgData name="sou hail" userId="60450b460ed6f840" providerId="LiveId" clId="{58ACDF10-68CB-43EC-B406-137D5A4A2954}" dt="2026-06-15T16:33:48.274" v="60" actId="21"/>
          <ac:picMkLst>
            <pc:docMk/>
            <pc:sldMk cId="0" sldId="260"/>
            <ac:picMk id="41" creationId="{A099078F-4E6D-04B1-140A-A420394F5F67}"/>
          </ac:picMkLst>
        </pc:picChg>
      </pc:sldChg>
      <pc:sldChg chg="addSp delSp modSp del mod">
        <pc:chgData name="sou hail" userId="60450b460ed6f840" providerId="LiveId" clId="{58ACDF10-68CB-43EC-B406-137D5A4A2954}" dt="2026-06-15T16:28:04.063" v="29" actId="47"/>
        <pc:sldMkLst>
          <pc:docMk/>
          <pc:sldMk cId="0" sldId="261"/>
        </pc:sldMkLst>
        <pc:spChg chg="mod">
          <ac:chgData name="sou hail" userId="60450b460ed6f840" providerId="LiveId" clId="{58ACDF10-68CB-43EC-B406-137D5A4A2954}" dt="2026-06-15T16:26:40.021" v="26" actId="14100"/>
          <ac:spMkLst>
            <pc:docMk/>
            <pc:sldMk cId="0" sldId="261"/>
            <ac:spMk id="11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12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37.884" v="16" actId="478"/>
          <ac:spMkLst>
            <pc:docMk/>
            <pc:sldMk cId="0" sldId="261"/>
            <ac:spMk id="16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30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31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33" creationId="{00000000-0000-0000-0000-000000000000}"/>
          </ac:spMkLst>
        </pc:spChg>
        <pc:spChg chg="del">
          <ac:chgData name="sou hail" userId="60450b460ed6f840" providerId="LiveId" clId="{58ACDF10-68CB-43EC-B406-137D5A4A2954}" dt="2026-06-15T16:25:44.911" v="18" actId="478"/>
          <ac:spMkLst>
            <pc:docMk/>
            <pc:sldMk cId="0" sldId="261"/>
            <ac:spMk id="34" creationId="{00000000-0000-0000-0000-000000000000}"/>
          </ac:spMkLst>
        </pc:spChg>
        <pc:picChg chg="add mod">
          <ac:chgData name="sou hail" userId="60450b460ed6f840" providerId="LiveId" clId="{58ACDF10-68CB-43EC-B406-137D5A4A2954}" dt="2026-06-15T16:27:08.849" v="28" actId="14100"/>
          <ac:picMkLst>
            <pc:docMk/>
            <pc:sldMk cId="0" sldId="261"/>
            <ac:picMk id="38" creationId="{18D6D301-3AFE-51ED-8B49-0B415FD52F66}"/>
          </ac:picMkLst>
        </pc:picChg>
      </pc:sldChg>
      <pc:sldChg chg="addSp delSp modSp mod">
        <pc:chgData name="sou hail" userId="60450b460ed6f840" providerId="LiveId" clId="{58ACDF10-68CB-43EC-B406-137D5A4A2954}" dt="2026-06-15T16:34:52.841" v="73" actId="1076"/>
        <pc:sldMkLst>
          <pc:docMk/>
          <pc:sldMk cId="0" sldId="262"/>
        </pc:sldMkLst>
        <pc:spChg chg="mod">
          <ac:chgData name="sou hail" userId="60450b460ed6f840" providerId="LiveId" clId="{58ACDF10-68CB-43EC-B406-137D5A4A2954}" dt="2026-06-15T16:34:43.960" v="72" actId="14100"/>
          <ac:spMkLst>
            <pc:docMk/>
            <pc:sldMk cId="0" sldId="262"/>
            <ac:spMk id="11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26" creationId="{00000000-0000-0000-0000-000000000000}"/>
          </ac:spMkLst>
        </pc:spChg>
        <pc:spChg chg="del">
          <ac:chgData name="sou hail" userId="60450b460ed6f840" providerId="LiveId" clId="{58ACDF10-68CB-43EC-B406-137D5A4A2954}" dt="2026-06-15T16:34:04.722" v="65" actId="478"/>
          <ac:spMkLst>
            <pc:docMk/>
            <pc:sldMk cId="0" sldId="262"/>
            <ac:spMk id="28" creationId="{00000000-0000-0000-0000-000000000000}"/>
          </ac:spMkLst>
        </pc:spChg>
        <pc:spChg chg="mod">
          <ac:chgData name="sou hail" userId="60450b460ed6f840" providerId="LiveId" clId="{58ACDF10-68CB-43EC-B406-137D5A4A2954}" dt="2026-06-15T16:34:38.479" v="70" actId="1076"/>
          <ac:spMkLst>
            <pc:docMk/>
            <pc:sldMk cId="0" sldId="262"/>
            <ac:spMk id="31" creationId="{00000000-0000-0000-0000-000000000000}"/>
          </ac:spMkLst>
        </pc:spChg>
        <pc:picChg chg="add del mod">
          <ac:chgData name="sou hail" userId="60450b460ed6f840" providerId="LiveId" clId="{58ACDF10-68CB-43EC-B406-137D5A4A2954}" dt="2026-06-15T16:31:34.953" v="45" actId="478"/>
          <ac:picMkLst>
            <pc:docMk/>
            <pc:sldMk cId="0" sldId="262"/>
            <ac:picMk id="33" creationId="{27895692-0605-1823-A836-E9A4CA62B803}"/>
          </ac:picMkLst>
        </pc:picChg>
        <pc:picChg chg="add mod">
          <ac:chgData name="sou hail" userId="60450b460ed6f840" providerId="LiveId" clId="{58ACDF10-68CB-43EC-B406-137D5A4A2954}" dt="2026-06-15T16:34:52.841" v="73" actId="1076"/>
          <ac:picMkLst>
            <pc:docMk/>
            <pc:sldMk cId="0" sldId="262"/>
            <ac:picMk id="41" creationId="{A099078F-4E6D-04B1-140A-A420394F5F67}"/>
          </ac:picMkLst>
        </pc:picChg>
      </pc:sldChg>
      <pc:sldChg chg="modSp mod">
        <pc:chgData name="sou hail" userId="60450b460ed6f840" providerId="LiveId" clId="{58ACDF10-68CB-43EC-B406-137D5A4A2954}" dt="2026-06-15T16:46:37.647" v="84" actId="1076"/>
        <pc:sldMkLst>
          <pc:docMk/>
          <pc:sldMk cId="0" sldId="266"/>
        </pc:sldMkLst>
        <pc:spChg chg="mod">
          <ac:chgData name="sou hail" userId="60450b460ed6f840" providerId="LiveId" clId="{58ACDF10-68CB-43EC-B406-137D5A4A2954}" dt="2026-06-15T16:46:26.440" v="83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sou hail" userId="60450b460ed6f840" providerId="LiveId" clId="{58ACDF10-68CB-43EC-B406-137D5A4A2954}" dt="2026-06-15T16:46:37.647" v="84" actId="1076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204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434840" y="1508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434840" y="1508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 DE FIN DE FORMATION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400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CHATIHNA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508760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"Chat Here, Anywhere"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08760" y="4297680"/>
            <a:ext cx="9144000" cy="1691640"/>
          </a:xfrm>
          <a:prstGeom prst="roundRect">
            <a:avLst>
              <a:gd name="adj" fmla="val 4324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9202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Sohail Koutaya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Mme. Imane Bouziane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SOLICODE - Centre Numérique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Académique 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</a:t>
            </a:r>
            <a:endParaRPr lang="en-US" sz="2200" dirty="0"/>
          </a:p>
        </p:txBody>
      </p:sp>
      <p:pic>
        <p:nvPicPr>
          <p:cNvPr id="4" name="Image 0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574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 err="1">
                <a:solidFill>
                  <a:schemeClr val="bg1"/>
                </a:solidFill>
              </a:rPr>
              <a:t>L'accélération</a:t>
            </a:r>
            <a:r>
              <a:rPr lang="en-CA" sz="1400" b="1" dirty="0">
                <a:solidFill>
                  <a:schemeClr val="bg1"/>
                </a:solidFill>
              </a:rPr>
              <a:t> de la transformation numérique :</a:t>
            </a:r>
            <a:r>
              <a:rPr lang="en-CA" sz="1400" dirty="0">
                <a:solidFill>
                  <a:schemeClr val="bg1"/>
                </a:solidFill>
              </a:rPr>
              <a:t> Elle </a:t>
            </a:r>
            <a:r>
              <a:rPr lang="en-CA" sz="1400" dirty="0" err="1">
                <a:solidFill>
                  <a:schemeClr val="bg1"/>
                </a:solidFill>
              </a:rPr>
              <a:t>contraint</a:t>
            </a:r>
            <a:r>
              <a:rPr lang="en-CA" sz="1400" dirty="0">
                <a:solidFill>
                  <a:schemeClr val="bg1"/>
                </a:solidFill>
              </a:rPr>
              <a:t> les applications de </a:t>
            </a:r>
            <a:r>
              <a:rPr lang="en-CA" sz="1400" dirty="0" err="1">
                <a:solidFill>
                  <a:schemeClr val="bg1"/>
                </a:solidFill>
              </a:rPr>
              <a:t>messagerie</a:t>
            </a:r>
            <a:r>
              <a:rPr lang="en-CA" sz="1400" dirty="0">
                <a:solidFill>
                  <a:schemeClr val="bg1"/>
                </a:solidFill>
              </a:rPr>
              <a:t> à </a:t>
            </a:r>
            <a:r>
              <a:rPr lang="en-CA" sz="1400" dirty="0" err="1">
                <a:solidFill>
                  <a:schemeClr val="bg1"/>
                </a:solidFill>
              </a:rPr>
              <a:t>offrir</a:t>
            </a:r>
            <a:r>
              <a:rPr lang="en-CA" sz="1400" dirty="0">
                <a:solidFill>
                  <a:schemeClr val="bg1"/>
                </a:solidFill>
              </a:rPr>
              <a:t> des </a:t>
            </a:r>
            <a:r>
              <a:rPr lang="en-CA" sz="1400" dirty="0" err="1">
                <a:solidFill>
                  <a:schemeClr val="bg1"/>
                </a:solidFill>
              </a:rPr>
              <a:t>expériences</a:t>
            </a:r>
            <a:r>
              <a:rPr lang="en-CA" sz="1400" dirty="0">
                <a:solidFill>
                  <a:schemeClr val="bg1"/>
                </a:solidFill>
              </a:rPr>
              <a:t> de communication </a:t>
            </a:r>
            <a:r>
              <a:rPr lang="en-CA" sz="1400" dirty="0" err="1">
                <a:solidFill>
                  <a:schemeClr val="bg1"/>
                </a:solidFill>
              </a:rPr>
              <a:t>instantanées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répondant</a:t>
            </a:r>
            <a:r>
              <a:rPr lang="en-CA" sz="1400" dirty="0">
                <a:solidFill>
                  <a:schemeClr val="bg1"/>
                </a:solidFill>
              </a:rPr>
              <a:t> aux exigences de </a:t>
            </a:r>
            <a:r>
              <a:rPr lang="en-CA" sz="1400" dirty="0" err="1">
                <a:solidFill>
                  <a:schemeClr val="bg1"/>
                </a:solidFill>
              </a:rPr>
              <a:t>vitesse</a:t>
            </a:r>
            <a:r>
              <a:rPr lang="en-CA" sz="1400" dirty="0">
                <a:solidFill>
                  <a:schemeClr val="bg1"/>
                </a:solidFill>
              </a:rPr>
              <a:t> et </a:t>
            </a:r>
            <a:r>
              <a:rPr lang="en-CA" sz="1400" dirty="0" err="1">
                <a:solidFill>
                  <a:schemeClr val="bg1"/>
                </a:solidFill>
              </a:rPr>
              <a:t>d'efficacité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6" name="Image 1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9718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>
                <a:solidFill>
                  <a:schemeClr val="bg1"/>
                </a:solidFill>
              </a:rPr>
              <a:t>La sécurité et la </a:t>
            </a:r>
            <a:r>
              <a:rPr lang="en-CA" sz="1400" b="1" dirty="0" err="1">
                <a:solidFill>
                  <a:schemeClr val="bg1"/>
                </a:solidFill>
              </a:rPr>
              <a:t>confidentialité</a:t>
            </a:r>
            <a:r>
              <a:rPr lang="en-CA" sz="1400" b="1" dirty="0">
                <a:solidFill>
                  <a:schemeClr val="bg1"/>
                </a:solidFill>
              </a:rPr>
              <a:t> des données :</a:t>
            </a:r>
            <a:r>
              <a:rPr lang="en-CA" sz="1400" dirty="0">
                <a:solidFill>
                  <a:schemeClr val="bg1"/>
                </a:solidFill>
              </a:rPr>
              <a:t> Face aux </a:t>
            </a:r>
            <a:r>
              <a:rPr lang="en-CA" sz="1400" dirty="0" err="1">
                <a:solidFill>
                  <a:schemeClr val="bg1"/>
                </a:solidFill>
              </a:rPr>
              <a:t>inquiétudes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croissantes</a:t>
            </a:r>
            <a:r>
              <a:rPr lang="en-CA" sz="1400" dirty="0">
                <a:solidFill>
                  <a:schemeClr val="bg1"/>
                </a:solidFill>
              </a:rPr>
              <a:t>, les </a:t>
            </a:r>
            <a:r>
              <a:rPr lang="en-CA" sz="1400" dirty="0" err="1">
                <a:solidFill>
                  <a:schemeClr val="bg1"/>
                </a:solidFill>
              </a:rPr>
              <a:t>utilisateurs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recherchent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désormais</a:t>
            </a:r>
            <a:r>
              <a:rPr lang="en-CA" sz="1400" dirty="0">
                <a:solidFill>
                  <a:schemeClr val="bg1"/>
                </a:solidFill>
              </a:rPr>
              <a:t> des alternatives </a:t>
            </a:r>
            <a:r>
              <a:rPr lang="en-CA" sz="1400" dirty="0" err="1">
                <a:solidFill>
                  <a:schemeClr val="bg1"/>
                </a:solidFill>
              </a:rPr>
              <a:t>fiables</a:t>
            </a:r>
            <a:r>
              <a:rPr lang="en-CA" sz="1400" dirty="0">
                <a:solidFill>
                  <a:schemeClr val="bg1"/>
                </a:solidFill>
              </a:rPr>
              <a:t> qui </a:t>
            </a:r>
            <a:r>
              <a:rPr lang="en-CA" sz="1400" dirty="0" err="1">
                <a:solidFill>
                  <a:schemeClr val="bg1"/>
                </a:solidFill>
              </a:rPr>
              <a:t>respectent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strictement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leur</a:t>
            </a:r>
            <a:r>
              <a:rPr lang="en-CA" sz="1400" dirty="0">
                <a:solidFill>
                  <a:schemeClr val="bg1"/>
                </a:solidFill>
              </a:rPr>
              <a:t> vie </a:t>
            </a:r>
            <a:r>
              <a:rPr lang="en-CA" sz="1400" dirty="0" err="1">
                <a:solidFill>
                  <a:schemeClr val="bg1"/>
                </a:solidFill>
              </a:rPr>
              <a:t>privée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8" name="Image 2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8862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 err="1">
                <a:solidFill>
                  <a:schemeClr val="bg1"/>
                </a:solidFill>
              </a:rPr>
              <a:t>L'évolution</a:t>
            </a:r>
            <a:r>
              <a:rPr lang="en-CA" sz="1400" b="1" dirty="0">
                <a:solidFill>
                  <a:schemeClr val="bg1"/>
                </a:solidFill>
              </a:rPr>
              <a:t> des </a:t>
            </a:r>
            <a:r>
              <a:rPr lang="en-CA" sz="1400" b="1" dirty="0" err="1">
                <a:solidFill>
                  <a:schemeClr val="bg1"/>
                </a:solidFill>
              </a:rPr>
              <a:t>attentes</a:t>
            </a:r>
            <a:r>
              <a:rPr lang="en-CA" sz="1400" b="1" dirty="0">
                <a:solidFill>
                  <a:schemeClr val="bg1"/>
                </a:solidFill>
              </a:rPr>
              <a:t> des </a:t>
            </a:r>
            <a:r>
              <a:rPr lang="en-CA" sz="1400" b="1" dirty="0" err="1">
                <a:solidFill>
                  <a:schemeClr val="bg1"/>
                </a:solidFill>
              </a:rPr>
              <a:t>utilisateurs</a:t>
            </a:r>
            <a:r>
              <a:rPr lang="en-CA" sz="1400" b="1" dirty="0">
                <a:solidFill>
                  <a:schemeClr val="bg1"/>
                </a:solidFill>
              </a:rPr>
              <a:t> :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Émergence</a:t>
            </a:r>
            <a:r>
              <a:rPr lang="en-CA" sz="1400" dirty="0">
                <a:solidFill>
                  <a:schemeClr val="bg1"/>
                </a:solidFill>
              </a:rPr>
              <a:t> de </a:t>
            </a:r>
            <a:r>
              <a:rPr lang="en-CA" sz="1400" dirty="0" err="1">
                <a:solidFill>
                  <a:schemeClr val="bg1"/>
                </a:solidFill>
              </a:rPr>
              <a:t>nouvelles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générations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exigeant</a:t>
            </a:r>
            <a:r>
              <a:rPr lang="en-CA" sz="1400" dirty="0">
                <a:solidFill>
                  <a:schemeClr val="bg1"/>
                </a:solidFill>
              </a:rPr>
              <a:t> des </a:t>
            </a:r>
            <a:r>
              <a:rPr lang="en-CA" sz="1400" dirty="0" err="1">
                <a:solidFill>
                  <a:schemeClr val="bg1"/>
                </a:solidFill>
              </a:rPr>
              <a:t>plateformes</a:t>
            </a:r>
            <a:r>
              <a:rPr lang="en-CA" sz="1400" dirty="0">
                <a:solidFill>
                  <a:schemeClr val="bg1"/>
                </a:solidFill>
              </a:rPr>
              <a:t> tout-</a:t>
            </a:r>
            <a:r>
              <a:rPr lang="en-CA" sz="1400" dirty="0" err="1">
                <a:solidFill>
                  <a:schemeClr val="bg1"/>
                </a:solidFill>
              </a:rPr>
              <a:t>en</a:t>
            </a:r>
            <a:r>
              <a:rPr lang="en-CA" sz="1400" dirty="0">
                <a:solidFill>
                  <a:schemeClr val="bg1"/>
                </a:solidFill>
              </a:rPr>
              <a:t>-un, </a:t>
            </a:r>
            <a:r>
              <a:rPr lang="en-CA" sz="1400" dirty="0" err="1">
                <a:solidFill>
                  <a:schemeClr val="bg1"/>
                </a:solidFill>
              </a:rPr>
              <a:t>regroupant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texte</a:t>
            </a:r>
            <a:r>
              <a:rPr lang="en-CA" sz="1400" dirty="0">
                <a:solidFill>
                  <a:schemeClr val="bg1"/>
                </a:solidFill>
              </a:rPr>
              <a:t>, audio, </a:t>
            </a:r>
            <a:r>
              <a:rPr lang="en-CA" sz="1400" dirty="0" err="1">
                <a:solidFill>
                  <a:schemeClr val="bg1"/>
                </a:solidFill>
              </a:rPr>
              <a:t>vidéo</a:t>
            </a:r>
            <a:r>
              <a:rPr lang="en-CA" sz="1400" dirty="0">
                <a:solidFill>
                  <a:schemeClr val="bg1"/>
                </a:solidFill>
              </a:rPr>
              <a:t> et </a:t>
            </a:r>
            <a:r>
              <a:rPr lang="en-CA" sz="1400" dirty="0" err="1">
                <a:solidFill>
                  <a:schemeClr val="bg1"/>
                </a:solidFill>
              </a:rPr>
              <a:t>appels</a:t>
            </a:r>
            <a:r>
              <a:rPr lang="en-CA" sz="1400" dirty="0">
                <a:solidFill>
                  <a:schemeClr val="bg1"/>
                </a:solidFill>
              </a:rPr>
              <a:t> pour </a:t>
            </a:r>
            <a:r>
              <a:rPr lang="en-CA" sz="1400" dirty="0" err="1">
                <a:solidFill>
                  <a:schemeClr val="bg1"/>
                </a:solidFill>
              </a:rPr>
              <a:t>une</a:t>
            </a:r>
            <a:r>
              <a:rPr lang="en-CA" sz="1400" dirty="0">
                <a:solidFill>
                  <a:schemeClr val="bg1"/>
                </a:solidFill>
              </a:rPr>
              <a:t> communication </a:t>
            </a:r>
            <a:r>
              <a:rPr lang="en-CA" sz="1400" dirty="0" err="1">
                <a:solidFill>
                  <a:schemeClr val="bg1"/>
                </a:solidFill>
              </a:rPr>
              <a:t>globale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0" name="Image 3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4632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80060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CA" sz="1400" b="1" dirty="0">
                <a:solidFill>
                  <a:schemeClr val="bg1"/>
                </a:solidFill>
              </a:rPr>
              <a:t>Le </a:t>
            </a:r>
            <a:r>
              <a:rPr lang="en-CA" sz="1400" b="1" dirty="0" err="1">
                <a:solidFill>
                  <a:schemeClr val="bg1"/>
                </a:solidFill>
              </a:rPr>
              <a:t>besoin</a:t>
            </a:r>
            <a:r>
              <a:rPr lang="en-CA" sz="1400" b="1" dirty="0">
                <a:solidFill>
                  <a:schemeClr val="bg1"/>
                </a:solidFill>
              </a:rPr>
              <a:t> </a:t>
            </a:r>
            <a:r>
              <a:rPr lang="en-CA" sz="1400" b="1" dirty="0" err="1">
                <a:solidFill>
                  <a:schemeClr val="bg1"/>
                </a:solidFill>
              </a:rPr>
              <a:t>d'interfaces</a:t>
            </a:r>
            <a:r>
              <a:rPr lang="en-CA" sz="1400" b="1" dirty="0">
                <a:solidFill>
                  <a:schemeClr val="bg1"/>
                </a:solidFill>
              </a:rPr>
              <a:t> </a:t>
            </a:r>
            <a:r>
              <a:rPr lang="en-CA" sz="1400" b="1" dirty="0" err="1">
                <a:solidFill>
                  <a:schemeClr val="bg1"/>
                </a:solidFill>
              </a:rPr>
              <a:t>responsives</a:t>
            </a:r>
            <a:r>
              <a:rPr lang="en-CA" sz="1400" b="1" dirty="0">
                <a:solidFill>
                  <a:schemeClr val="bg1"/>
                </a:solidFill>
              </a:rPr>
              <a:t> et </a:t>
            </a:r>
            <a:r>
              <a:rPr lang="en-CA" sz="1400" b="1" dirty="0" err="1">
                <a:solidFill>
                  <a:schemeClr val="bg1"/>
                </a:solidFill>
              </a:rPr>
              <a:t>performantes</a:t>
            </a:r>
            <a:r>
              <a:rPr lang="en-CA" sz="1400" b="1" dirty="0">
                <a:solidFill>
                  <a:schemeClr val="bg1"/>
                </a:solidFill>
              </a:rPr>
              <a:t> :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Nécessité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absolue</a:t>
            </a:r>
            <a:r>
              <a:rPr lang="en-CA" sz="1400" dirty="0">
                <a:solidFill>
                  <a:schemeClr val="bg1"/>
                </a:solidFill>
              </a:rPr>
              <a:t> de </a:t>
            </a:r>
            <a:r>
              <a:rPr lang="en-CA" sz="1400" dirty="0" err="1">
                <a:solidFill>
                  <a:schemeClr val="bg1"/>
                </a:solidFill>
              </a:rPr>
              <a:t>garantir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une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stabilité</a:t>
            </a:r>
            <a:r>
              <a:rPr lang="en-CA" sz="1400" dirty="0">
                <a:solidFill>
                  <a:schemeClr val="bg1"/>
                </a:solidFill>
              </a:rPr>
              <a:t> et </a:t>
            </a:r>
            <a:r>
              <a:rPr lang="en-CA" sz="1400" dirty="0" err="1">
                <a:solidFill>
                  <a:schemeClr val="bg1"/>
                </a:solidFill>
              </a:rPr>
              <a:t>une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fluidité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optimales</a:t>
            </a:r>
            <a:r>
              <a:rPr lang="en-CA" sz="1400" dirty="0">
                <a:solidFill>
                  <a:schemeClr val="bg1"/>
                </a:solidFill>
              </a:rPr>
              <a:t>, </a:t>
            </a:r>
            <a:r>
              <a:rPr lang="en-CA" sz="1400" dirty="0" err="1">
                <a:solidFill>
                  <a:schemeClr val="bg1"/>
                </a:solidFill>
              </a:rPr>
              <a:t>que</a:t>
            </a:r>
            <a:r>
              <a:rPr lang="en-CA" sz="1400" dirty="0">
                <a:solidFill>
                  <a:schemeClr val="bg1"/>
                </a:solidFill>
              </a:rPr>
              <a:t> </a:t>
            </a:r>
            <a:r>
              <a:rPr lang="en-CA" sz="1400" dirty="0" err="1">
                <a:solidFill>
                  <a:schemeClr val="bg1"/>
                </a:solidFill>
              </a:rPr>
              <a:t>ce</a:t>
            </a:r>
            <a:r>
              <a:rPr lang="en-CA" sz="1400" dirty="0">
                <a:solidFill>
                  <a:schemeClr val="bg1"/>
                </a:solidFill>
              </a:rPr>
              <a:t> soit sur mobile </a:t>
            </a:r>
            <a:r>
              <a:rPr lang="en-CA" sz="1400" dirty="0" err="1">
                <a:solidFill>
                  <a:schemeClr val="bg1"/>
                </a:solidFill>
              </a:rPr>
              <a:t>ou</a:t>
            </a:r>
            <a:r>
              <a:rPr lang="en-CA" sz="1400" dirty="0">
                <a:solidFill>
                  <a:schemeClr val="bg1"/>
                </a:solidFill>
              </a:rPr>
              <a:t> sur </a:t>
            </a:r>
            <a:r>
              <a:rPr lang="en-CA" sz="1400" dirty="0" err="1">
                <a:solidFill>
                  <a:schemeClr val="bg1"/>
                </a:solidFill>
              </a:rPr>
              <a:t>ordinateur</a:t>
            </a:r>
            <a:r>
              <a:rPr lang="en-CA" sz="1400" dirty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6"/>
          <p:cNvSpPr/>
          <p:nvPr/>
        </p:nvSpPr>
        <p:spPr>
          <a:xfrm>
            <a:off x="7178040" y="1737360"/>
            <a:ext cx="4434840" cy="3108960"/>
          </a:xfrm>
          <a:prstGeom prst="roundRect">
            <a:avLst>
              <a:gd name="adj" fmla="val 2941"/>
            </a:avLst>
          </a:prstGeom>
          <a:solidFill>
            <a:srgbClr val="111A2E"/>
          </a:solidFill>
          <a:ln w="12700">
            <a:solidFill>
              <a:srgbClr val="5B1F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7"/>
          <p:cNvSpPr/>
          <p:nvPr/>
        </p:nvSpPr>
        <p:spPr>
          <a:xfrm>
            <a:off x="7498080" y="2057400"/>
            <a:ext cx="548640" cy="548640"/>
          </a:xfrm>
          <a:prstGeom prst="ellipse">
            <a:avLst/>
          </a:prstGeom>
          <a:solidFill>
            <a:srgbClr val="3A141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4" name="Image 4" descr="/home/claude/chatihna/icons/questio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1945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Problématique</a:t>
            </a:r>
            <a:endParaRPr lang="en-US" sz="1900" dirty="0"/>
          </a:p>
        </p:txBody>
      </p:sp>
      <p:sp>
        <p:nvSpPr>
          <p:cNvPr id="16" name="Text 9"/>
          <p:cNvSpPr/>
          <p:nvPr/>
        </p:nvSpPr>
        <p:spPr>
          <a:xfrm>
            <a:off x="7498080" y="2743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CA" sz="1600" dirty="0">
                <a:solidFill>
                  <a:schemeClr val="bg1"/>
                </a:solidFill>
              </a:rPr>
              <a:t>Comment </a:t>
            </a:r>
            <a:r>
              <a:rPr lang="en-CA" sz="1600" dirty="0" err="1">
                <a:solidFill>
                  <a:schemeClr val="bg1"/>
                </a:solidFill>
              </a:rPr>
              <a:t>concevoir</a:t>
            </a:r>
            <a:r>
              <a:rPr lang="en-CA" sz="1600" dirty="0">
                <a:solidFill>
                  <a:schemeClr val="bg1"/>
                </a:solidFill>
              </a:rPr>
              <a:t> et </a:t>
            </a:r>
            <a:r>
              <a:rPr lang="en-CA" sz="1600" dirty="0" err="1">
                <a:solidFill>
                  <a:schemeClr val="bg1"/>
                </a:solidFill>
              </a:rPr>
              <a:t>développer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une</a:t>
            </a:r>
            <a:r>
              <a:rPr lang="en-CA" sz="1600" dirty="0">
                <a:solidFill>
                  <a:schemeClr val="bg1"/>
                </a:solidFill>
              </a:rPr>
              <a:t> application de </a:t>
            </a:r>
            <a:r>
              <a:rPr lang="en-CA" sz="1600" dirty="0" err="1">
                <a:solidFill>
                  <a:schemeClr val="bg1"/>
                </a:solidFill>
              </a:rPr>
              <a:t>messagerie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rapide</a:t>
            </a:r>
            <a:r>
              <a:rPr lang="en-CA" sz="1600" dirty="0">
                <a:solidFill>
                  <a:schemeClr val="bg1"/>
                </a:solidFill>
              </a:rPr>
              <a:t> qui </a:t>
            </a:r>
            <a:r>
              <a:rPr lang="en-CA" sz="1600" dirty="0" err="1">
                <a:solidFill>
                  <a:schemeClr val="bg1"/>
                </a:solidFill>
              </a:rPr>
              <a:t>offre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une</a:t>
            </a:r>
            <a:r>
              <a:rPr lang="en-CA" sz="1600" dirty="0">
                <a:solidFill>
                  <a:schemeClr val="bg1"/>
                </a:solidFill>
              </a:rPr>
              <a:t> communication </a:t>
            </a:r>
            <a:r>
              <a:rPr lang="en-CA" sz="1600" dirty="0" err="1">
                <a:solidFill>
                  <a:schemeClr val="bg1"/>
                </a:solidFill>
              </a:rPr>
              <a:t>instantanée</a:t>
            </a:r>
            <a:r>
              <a:rPr lang="en-CA" sz="1600" dirty="0">
                <a:solidFill>
                  <a:schemeClr val="bg1"/>
                </a:solidFill>
              </a:rPr>
              <a:t> et </a:t>
            </a:r>
            <a:r>
              <a:rPr lang="en-CA" sz="1600" dirty="0" err="1">
                <a:solidFill>
                  <a:schemeClr val="bg1"/>
                </a:solidFill>
              </a:rPr>
              <a:t>sécurisée</a:t>
            </a:r>
            <a:r>
              <a:rPr lang="en-CA" sz="1600" dirty="0">
                <a:solidFill>
                  <a:schemeClr val="bg1"/>
                </a:solidFill>
              </a:rPr>
              <a:t>, tout </a:t>
            </a:r>
            <a:r>
              <a:rPr lang="en-CA" sz="1600" dirty="0" err="1">
                <a:solidFill>
                  <a:schemeClr val="bg1"/>
                </a:solidFill>
              </a:rPr>
              <a:t>en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intégrant</a:t>
            </a:r>
            <a:r>
              <a:rPr lang="en-CA" sz="1600" dirty="0">
                <a:solidFill>
                  <a:schemeClr val="bg1"/>
                </a:solidFill>
              </a:rPr>
              <a:t> des </a:t>
            </a:r>
            <a:r>
              <a:rPr lang="en-CA" sz="1600" dirty="0" err="1">
                <a:solidFill>
                  <a:schemeClr val="bg1"/>
                </a:solidFill>
              </a:rPr>
              <a:t>fonctionnalités</a:t>
            </a:r>
            <a:r>
              <a:rPr lang="en-CA" sz="1600" dirty="0">
                <a:solidFill>
                  <a:schemeClr val="bg1"/>
                </a:solidFill>
              </a:rPr>
              <a:t> de partage de voix, </a:t>
            </a:r>
            <a:r>
              <a:rPr lang="en-CA" sz="1600" dirty="0" err="1">
                <a:solidFill>
                  <a:schemeClr val="bg1"/>
                </a:solidFill>
              </a:rPr>
              <a:t>d'images</a:t>
            </a:r>
            <a:r>
              <a:rPr lang="en-CA" sz="1600" dirty="0">
                <a:solidFill>
                  <a:schemeClr val="bg1"/>
                </a:solidFill>
              </a:rPr>
              <a:t> et des </a:t>
            </a:r>
            <a:r>
              <a:rPr lang="en-CA" sz="1600" dirty="0" err="1">
                <a:solidFill>
                  <a:schemeClr val="bg1"/>
                </a:solidFill>
              </a:rPr>
              <a:t>appels</a:t>
            </a:r>
            <a:r>
              <a:rPr lang="en-CA" sz="1600" dirty="0">
                <a:solidFill>
                  <a:schemeClr val="bg1"/>
                </a:solidFill>
              </a:rPr>
              <a:t> </a:t>
            </a:r>
            <a:r>
              <a:rPr lang="en-CA" sz="1600" dirty="0" err="1">
                <a:solidFill>
                  <a:schemeClr val="bg1"/>
                </a:solidFill>
              </a:rPr>
              <a:t>vidéo</a:t>
            </a:r>
            <a:r>
              <a:rPr lang="en-CA" sz="1600" dirty="0">
                <a:solidFill>
                  <a:schemeClr val="bg1"/>
                </a:solidFill>
              </a:rPr>
              <a:t> avec un haut </a:t>
            </a:r>
            <a:r>
              <a:rPr lang="en-CA" sz="1600" dirty="0" err="1">
                <a:solidFill>
                  <a:schemeClr val="bg1"/>
                </a:solidFill>
              </a:rPr>
              <a:t>niveau</a:t>
            </a:r>
            <a:r>
              <a:rPr lang="en-CA" sz="1600" dirty="0">
                <a:solidFill>
                  <a:schemeClr val="bg1"/>
                </a:solidFill>
              </a:rPr>
              <a:t> de </a:t>
            </a:r>
            <a:r>
              <a:rPr lang="en-CA" sz="1600" dirty="0" err="1">
                <a:solidFill>
                  <a:schemeClr val="bg1"/>
                </a:solidFill>
              </a:rPr>
              <a:t>confidentialité</a:t>
            </a:r>
            <a:r>
              <a:rPr lang="en-CA" sz="1600" dirty="0">
                <a:solidFill>
                  <a:schemeClr val="bg1"/>
                </a:solidFill>
              </a:rPr>
              <a:t> ?</a:t>
            </a:r>
            <a:endParaRPr lang="en-US" sz="14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777240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user_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65376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Sécurisé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2724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moderne par email et mot de passe, via un fournisseur de service fiable.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4617720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1" descr="/home/claude/chatihna/icons/bol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865376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Délai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17720" y="2724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bidirectionnel persistant pour l'envoi et la réception instantanée de messages.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0"/>
          <p:cNvSpPr/>
          <p:nvPr/>
        </p:nvSpPr>
        <p:spPr>
          <a:xfrm>
            <a:off x="8458200" y="17556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2" descr="/home/claude/chatihna/icons/microphon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865376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Échanges Multimédias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58200" y="272491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fluide de notes audio haute fidélité et d'images optimisées en ligne.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4"/>
          <p:cNvSpPr/>
          <p:nvPr/>
        </p:nvSpPr>
        <p:spPr>
          <a:xfrm>
            <a:off x="77724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0" name="Image 3" descr="/home/claude/chatihna/icons/user_circ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105656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Présence en Ligne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7724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temps réel des statuts d'activité (En ligne / Hors ligne) et des accusés de lecture.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8912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8"/>
          <p:cNvSpPr/>
          <p:nvPr/>
        </p:nvSpPr>
        <p:spPr>
          <a:xfrm>
            <a:off x="461772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4" descr="/home/claude/chatihna/icons/mobil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105656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Responsive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1772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intuitive et adaptable, garantissant une utilisation fluide sur mobile et desktop.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229600" y="3794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111A2E"/>
          </a:solidFill>
          <a:ln w="19050">
            <a:solidFill>
              <a:srgbClr val="3B82F6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2"/>
          <p:cNvSpPr/>
          <p:nvPr/>
        </p:nvSpPr>
        <p:spPr>
          <a:xfrm>
            <a:off x="8458200" y="399592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0" name="Image 5" descr="/home/claude/chatihna/icons/shield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928" y="4105656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58200" y="4572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Fiabilité des Données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58200" y="496519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et persistance robuste des relations entre utilisateurs, salons et messages.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laptopcod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756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Service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dynamique et Single Page Application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23160" y="292608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2423160" y="2926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03904" y="2926080"/>
            <a:ext cx="1682496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3803904" y="29260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169164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6583680" y="19659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1" descr="/home/claude/chatihna/icons/server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07568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Base de données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315200" y="22585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robuste et stockage de documents asynchrone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292608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6"/>
          <p:cNvSpPr/>
          <p:nvPr/>
        </p:nvSpPr>
        <p:spPr>
          <a:xfrm>
            <a:off x="6583680" y="292608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7854696" y="292608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8"/>
          <p:cNvSpPr/>
          <p:nvPr/>
        </p:nvSpPr>
        <p:spPr>
          <a:xfrm>
            <a:off x="7854696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9454896" y="2926080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0"/>
          <p:cNvSpPr/>
          <p:nvPr/>
        </p:nvSpPr>
        <p:spPr>
          <a:xfrm>
            <a:off x="9454896" y="2926080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4864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2"/>
          <p:cNvSpPr/>
          <p:nvPr/>
        </p:nvSpPr>
        <p:spPr>
          <a:xfrm>
            <a:off x="822960" y="4160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7" name="Image 2" descr="/home/claude/chatihna/icons/sitemap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27024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55448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Messagerie Temps Réel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1554480" y="4453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continue des événements socket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2960" y="5120640"/>
            <a:ext cx="1353312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6"/>
          <p:cNvSpPr/>
          <p:nvPr/>
        </p:nvSpPr>
        <p:spPr>
          <a:xfrm>
            <a:off x="822960" y="512064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2313432" y="51206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8"/>
          <p:cNvSpPr/>
          <p:nvPr/>
        </p:nvSpPr>
        <p:spPr>
          <a:xfrm>
            <a:off x="2313432" y="5120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309360" y="388620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Shape 30"/>
          <p:cNvSpPr/>
          <p:nvPr/>
        </p:nvSpPr>
        <p:spPr>
          <a:xfrm>
            <a:off x="6583680" y="41605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6" name="Image 3" descr="/home/claude/chatihna/icons/cloud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270248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31520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Cloud Externes</a:t>
            </a:r>
            <a:endParaRPr lang="en-US" sz="1700" dirty="0"/>
          </a:p>
        </p:txBody>
      </p:sp>
      <p:sp>
        <p:nvSpPr>
          <p:cNvPr id="38" name="Text 32"/>
          <p:cNvSpPr/>
          <p:nvPr/>
        </p:nvSpPr>
        <p:spPr>
          <a:xfrm>
            <a:off x="7315200" y="4453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sécurisée de l'authentification et du CDN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6583680" y="5120640"/>
            <a:ext cx="1792224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4"/>
          <p:cNvSpPr/>
          <p:nvPr/>
        </p:nvSpPr>
        <p:spPr>
          <a:xfrm>
            <a:off x="6583680" y="512064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8513064" y="5120640"/>
            <a:ext cx="1901952" cy="365760"/>
          </a:xfrm>
          <a:prstGeom prst="roundRect">
            <a:avLst>
              <a:gd name="adj" fmla="val 50000"/>
            </a:avLst>
          </a:prstGeom>
          <a:solidFill>
            <a:srgbClr val="0E152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36"/>
          <p:cNvSpPr/>
          <p:nvPr/>
        </p:nvSpPr>
        <p:spPr>
          <a:xfrm>
            <a:off x="8513064" y="51206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API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Modulaire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données et d'événements du projet décrits de bout en bout :</a:t>
            </a:r>
            <a:endParaRPr lang="en-US" sz="1350" dirty="0"/>
          </a:p>
        </p:txBody>
      </p:sp>
      <p:pic>
        <p:nvPicPr>
          <p:cNvPr id="5" name="Image 0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sous Next.js 14, assurant l'interface client et la liaison WebSocket persistante.</a:t>
            </a:r>
            <a:endParaRPr lang="en-US" sz="135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Node.js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API REST et serveur Socket.IO pour coordonner les flux d'événements.</a:t>
            </a:r>
            <a:endParaRPr lang="en-US" sz="135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SaaS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pour la data, Firebase pour l'auth, et Cloudinary pour les assets multimédias.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316168" y="855406"/>
            <a:ext cx="5486400" cy="5473912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5" name="Text 25"/>
          <p:cNvSpPr/>
          <p:nvPr/>
        </p:nvSpPr>
        <p:spPr>
          <a:xfrm>
            <a:off x="6400800" y="5577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: présentation, logique métier, persistance &amp; services tiers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D80FD36-CD82-CCC7-68B9-7FE0A3A6C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124" y="960120"/>
            <a:ext cx="5176487" cy="5176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(MLD)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NoSQL Relationnelle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de données structure la persistance des entités de messagerie :</a:t>
            </a:r>
            <a:endParaRPr lang="en-US" sz="1350" dirty="0"/>
          </a:p>
        </p:txBody>
      </p:sp>
      <p:pic>
        <p:nvPicPr>
          <p:cNvPr id="5" name="Image 0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 l'identité, le mot de passe, l'avatar et l'état de présence en ligne.</a:t>
            </a:r>
            <a:endParaRPr lang="en-US" sz="135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deux participants uniques pour les salons de discussion privés (Conversations).</a:t>
            </a:r>
            <a:endParaRPr lang="en-US" sz="135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548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2688" y="4709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le contenu, le type (text/audio/image) et l'accusé de réception (isSeen).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156960" y="1760706"/>
            <a:ext cx="5486400" cy="4192622"/>
          </a:xfrm>
          <a:prstGeom prst="roundRect">
            <a:avLst>
              <a:gd name="adj" fmla="val 1481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31" name="Text 26"/>
          <p:cNvSpPr/>
          <p:nvPr/>
        </p:nvSpPr>
        <p:spPr>
          <a:xfrm>
            <a:off x="6400800" y="54635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: un utilisateur participe à plusieurs chats ; chaque chat contient plusieurs messages</a:t>
            </a:r>
            <a:endParaRPr lang="en-US" sz="10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099078F-4E6D-04B1-140A-A420394F5F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305" t="5239" r="16136" b="10295"/>
          <a:stretch>
            <a:fillRect/>
          </a:stretch>
        </p:blipFill>
        <p:spPr>
          <a:xfrm>
            <a:off x="6522719" y="2148840"/>
            <a:ext cx="4754881" cy="31671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DE L'APPLICATION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04672" y="17647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user_shield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4688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Accès &amp; Profil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04672" y="28803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Paramètres :</a:t>
            </a:r>
            <a:endParaRPr lang="en-US" sz="1250" dirty="0"/>
          </a:p>
        </p:txBody>
      </p:sp>
      <p:pic>
        <p:nvPicPr>
          <p:cNvPr id="8" name="Image 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0156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sécurisée.</a:t>
            </a:r>
            <a:endParaRPr lang="en-US" sz="1350" dirty="0"/>
          </a:p>
        </p:txBody>
      </p:sp>
      <p:pic>
        <p:nvPicPr>
          <p:cNvPr id="10" name="Image 2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995928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d'avatar profil.</a:t>
            </a:r>
            <a:endParaRPr lang="en-US" sz="1350" dirty="0"/>
          </a:p>
        </p:txBody>
      </p:sp>
      <p:pic>
        <p:nvPicPr>
          <p:cNvPr id="12" name="Image 3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90288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session locale.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438912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9"/>
          <p:cNvSpPr/>
          <p:nvPr/>
        </p:nvSpPr>
        <p:spPr>
          <a:xfrm>
            <a:off x="4645152" y="17647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4" descr="/home/claude/chatihna/icons/commentdot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1901952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45152" y="24688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Messagerie Directe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4645152" y="28803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Privé Interactif :</a:t>
            </a:r>
            <a:endParaRPr lang="en-US" sz="1250" dirty="0"/>
          </a:p>
        </p:txBody>
      </p:sp>
      <p:pic>
        <p:nvPicPr>
          <p:cNvPr id="19" name="Image 5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40156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8348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1-to-1 en temps réel.</a:t>
            </a:r>
            <a:endParaRPr lang="en-US" sz="1350" dirty="0"/>
          </a:p>
        </p:txBody>
      </p:sp>
      <p:pic>
        <p:nvPicPr>
          <p:cNvPr id="21" name="Image 6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99592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8348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saisie dynamique.</a:t>
            </a:r>
            <a:endParaRPr lang="en-US" sz="1350" dirty="0"/>
          </a:p>
        </p:txBody>
      </p:sp>
      <p:pic>
        <p:nvPicPr>
          <p:cNvPr id="23" name="Image 7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59028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98348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 discussion persistant.</a:t>
            </a:r>
            <a:endParaRPr lang="en-US" sz="1350" dirty="0"/>
          </a:p>
        </p:txBody>
      </p:sp>
      <p:sp>
        <p:nvSpPr>
          <p:cNvPr id="25" name="Shape 15"/>
          <p:cNvSpPr/>
          <p:nvPr/>
        </p:nvSpPr>
        <p:spPr>
          <a:xfrm>
            <a:off x="8229600" y="150876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16"/>
          <p:cNvSpPr/>
          <p:nvPr/>
        </p:nvSpPr>
        <p:spPr>
          <a:xfrm>
            <a:off x="8485632" y="1764792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7" name="Image 8" descr="/home/claude/chatihna/icons/microphon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1901952"/>
            <a:ext cx="320040" cy="32004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485632" y="2468880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 &amp; Statut</a:t>
            </a:r>
            <a:endParaRPr lang="en-US" sz="1900" dirty="0"/>
          </a:p>
        </p:txBody>
      </p:sp>
      <p:sp>
        <p:nvSpPr>
          <p:cNvPr id="29" name="Text 18"/>
          <p:cNvSpPr/>
          <p:nvPr/>
        </p:nvSpPr>
        <p:spPr>
          <a:xfrm>
            <a:off x="8485632" y="288036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Images &amp; États :</a:t>
            </a:r>
            <a:endParaRPr lang="en-US" sz="1250" dirty="0"/>
          </a:p>
        </p:txBody>
      </p:sp>
      <p:pic>
        <p:nvPicPr>
          <p:cNvPr id="30" name="Image 9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3401568"/>
            <a:ext cx="219456" cy="21945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823960" y="3383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Enregistreur audio natif.</a:t>
            </a:r>
            <a:endParaRPr lang="en-US" sz="1350" dirty="0"/>
          </a:p>
        </p:txBody>
      </p:sp>
      <p:pic>
        <p:nvPicPr>
          <p:cNvPr id="32" name="Image 10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3995928"/>
            <a:ext cx="219456" cy="21945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823960" y="3977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d'images compressées.</a:t>
            </a:r>
            <a:endParaRPr lang="en-US" sz="1350" dirty="0"/>
          </a:p>
        </p:txBody>
      </p:sp>
      <p:pic>
        <p:nvPicPr>
          <p:cNvPr id="34" name="Image 1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590288"/>
            <a:ext cx="219456" cy="219456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823960" y="4572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Accusés de lecture (Seen).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TEMPS RÉEL</a:t>
            </a:r>
            <a:endParaRPr lang="en-US" sz="3000" dirty="0"/>
          </a:p>
        </p:txBody>
      </p:sp>
      <p:pic>
        <p:nvPicPr>
          <p:cNvPr id="3" name="Image 0" descr="/home/claude/chatihna/icons/tachometer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26517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5ms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914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de socket perçue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40680" y="1691640"/>
            <a:ext cx="617220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7" name="Image 1" descr="/home/claude/chatihna/icons/sitemap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9842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19202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 Vie d'un Message (Socket.IO)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591556" y="2606040"/>
            <a:ext cx="1078992" cy="1371600"/>
          </a:xfrm>
          <a:prstGeom prst="roundRect">
            <a:avLst>
              <a:gd name="adj" fmla="val 5932"/>
            </a:avLst>
          </a:prstGeom>
          <a:solidFill>
            <a:srgbClr val="0E1525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6"/>
          <p:cNvSpPr/>
          <p:nvPr/>
        </p:nvSpPr>
        <p:spPr>
          <a:xfrm>
            <a:off x="5591556" y="27706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664708" y="338328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Client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670548" y="329184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9"/>
          <p:cNvSpPr/>
          <p:nvPr/>
        </p:nvSpPr>
        <p:spPr>
          <a:xfrm>
            <a:off x="6789420" y="2606040"/>
            <a:ext cx="1078992" cy="1371600"/>
          </a:xfrm>
          <a:prstGeom prst="roundRect">
            <a:avLst>
              <a:gd name="adj" fmla="val 5932"/>
            </a:avLst>
          </a:prstGeom>
          <a:solidFill>
            <a:srgbClr val="0E1525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0"/>
          <p:cNvSpPr/>
          <p:nvPr/>
        </p:nvSpPr>
        <p:spPr>
          <a:xfrm>
            <a:off x="6789420" y="27706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862572" y="338328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API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68412" y="329184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3"/>
          <p:cNvSpPr/>
          <p:nvPr/>
        </p:nvSpPr>
        <p:spPr>
          <a:xfrm>
            <a:off x="7987284" y="2606040"/>
            <a:ext cx="1078992" cy="1371600"/>
          </a:xfrm>
          <a:prstGeom prst="roundRect">
            <a:avLst>
              <a:gd name="adj" fmla="val 5932"/>
            </a:avLst>
          </a:prstGeom>
          <a:solidFill>
            <a:srgbClr val="0E1525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4"/>
          <p:cNvSpPr/>
          <p:nvPr/>
        </p:nvSpPr>
        <p:spPr>
          <a:xfrm>
            <a:off x="7987284" y="27706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8060436" y="338328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BDD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9066276" y="329184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9185148" y="2606040"/>
            <a:ext cx="1078992" cy="1371600"/>
          </a:xfrm>
          <a:prstGeom prst="roundRect">
            <a:avLst>
              <a:gd name="adj" fmla="val 5932"/>
            </a:avLst>
          </a:prstGeom>
          <a:solidFill>
            <a:srgbClr val="0E1525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8"/>
          <p:cNvSpPr/>
          <p:nvPr/>
        </p:nvSpPr>
        <p:spPr>
          <a:xfrm>
            <a:off x="9185148" y="27706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9258300" y="338328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Socket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10264140" y="329184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1"/>
          <p:cNvSpPr/>
          <p:nvPr/>
        </p:nvSpPr>
        <p:spPr>
          <a:xfrm>
            <a:off x="10383012" y="2606040"/>
            <a:ext cx="1078992" cy="1371600"/>
          </a:xfrm>
          <a:prstGeom prst="roundRect">
            <a:avLst>
              <a:gd name="adj" fmla="val 5932"/>
            </a:avLst>
          </a:prstGeom>
          <a:solidFill>
            <a:srgbClr val="0E1525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2"/>
          <p:cNvSpPr/>
          <p:nvPr/>
        </p:nvSpPr>
        <p:spPr>
          <a:xfrm>
            <a:off x="10383012" y="277063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10456164" y="3383280"/>
            <a:ext cx="932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Réception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760720" y="4251960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connexion persistante supprime l'overhead des requêtes HTTP traditionnelles. La transmission asynchrone garantit que le destinataire reçoit le message instantanément.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DE L'APPLICATION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111A2E"/>
          </a:solidFill>
          <a:ln w="19050">
            <a:solidFill>
              <a:srgbClr val="2DD4BF">
                <a:alpha val="7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86868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Scénarisé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fonctionnelle en temps réel (durée cible : 4 à 6 minutes conformément aux critères d'évaluation de soutenance).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0E1525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088528" y="4160325"/>
            <a:ext cx="185798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http://localhost:3000/</a:t>
            </a:r>
            <a:endParaRPr lang="en-US" sz="1500" i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835140" y="1920240"/>
            <a:ext cx="640080" cy="64008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0" descr="/home/claude/chatihna/icons/signi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207568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0" y="2697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Connexion / Profil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et avatar.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823960" y="160020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1"/>
          <p:cNvSpPr/>
          <p:nvPr/>
        </p:nvSpPr>
        <p:spPr>
          <a:xfrm>
            <a:off x="9898380" y="1920240"/>
            <a:ext cx="640080" cy="64008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1" descr="/home/claude/chatihna/icons/commentdot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3828" y="20756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23960" y="2697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Chat Temps Réel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00684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instantanée texte.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760720" y="397764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6835140" y="4297680"/>
            <a:ext cx="640080" cy="640080"/>
          </a:xfrm>
          <a:prstGeom prst="ellipse">
            <a:avLst/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0" name="Image 2" descr="/home/claude/chatihna/icons/microphon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0588" y="44531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760720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Envoi Audio / Image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943600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d'images et voix.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823960" y="3977640"/>
            <a:ext cx="2788920" cy="2103120"/>
          </a:xfrm>
          <a:prstGeom prst="roundRect">
            <a:avLst>
              <a:gd name="adj" fmla="val 3478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19"/>
          <p:cNvSpPr/>
          <p:nvPr/>
        </p:nvSpPr>
        <p:spPr>
          <a:xfrm>
            <a:off x="9898380" y="4297680"/>
            <a:ext cx="640080" cy="640080"/>
          </a:xfrm>
          <a:prstGeom prst="ellipse">
            <a:avLst/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5" name="Image 3" descr="/home/claude/chatihna/icons/ey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3828" y="445312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823960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Seen &amp; Status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006840" y="5513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 de lecture en direct.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TECHNIQUES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3A1419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warning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933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Défis Rencontrés</a:t>
            </a:r>
            <a:endParaRPr lang="en-US" sz="200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3347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606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Synchronisation Socket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Micro-coupures internet déconnectant les clients.</a:t>
            </a:r>
            <a:endParaRPr lang="en-US" sz="135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712464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6850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de Chargement Médias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Téléversement d'images brutes non compressées trop volumineuses.</a:t>
            </a:r>
            <a:endParaRPr lang="en-US" sz="1350" dirty="0"/>
          </a:p>
        </p:txBody>
      </p:sp>
      <p:pic>
        <p:nvPicPr>
          <p:cNvPr id="11" name="Image 3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9145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76402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Accusés de Lecture en Direct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d'optimisation d'état "Seen" instantané multi-fenêtres.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30936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8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4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9933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Implémentées</a:t>
            </a:r>
            <a:endParaRPr lang="en-US" sz="2000" dirty="0"/>
          </a:p>
        </p:txBody>
      </p:sp>
      <p:pic>
        <p:nvPicPr>
          <p:cNvPr id="17" name="Image 5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633472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95160" y="26060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Reconnexion Automatique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reconnexion native Socket.IO et stockage cache temporaire local.</a:t>
            </a:r>
            <a:endParaRPr lang="en-US" sz="1350" dirty="0"/>
          </a:p>
        </p:txBody>
      </p:sp>
      <p:pic>
        <p:nvPicPr>
          <p:cNvPr id="19" name="Image 6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712464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95160" y="3685032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CDN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API Cloudinary pour compresser les médias côté frontend avant upload.</a:t>
            </a:r>
            <a:endParaRPr lang="en-US" sz="1350" dirty="0"/>
          </a:p>
        </p:txBody>
      </p:sp>
      <p:pic>
        <p:nvPicPr>
          <p:cNvPr id="21" name="Image 7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791456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95160" y="4764024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Dédiés : </a:t>
            </a: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Socket spécifique pour diffuser l'état de lecture par événement ciblé.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F3D38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/home/claude/chatihna/icons/sta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933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Général</a:t>
            </a:r>
            <a:endParaRPr lang="en-US" sz="2000" dirty="0"/>
          </a:p>
        </p:txBody>
      </p:sp>
      <p:pic>
        <p:nvPicPr>
          <p:cNvPr id="7" name="Image 1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58775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5603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atteints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fonctionnelle, stable, asynchrone et hautement réactive.</a:t>
            </a:r>
            <a:endParaRPr lang="en-US" sz="1300" dirty="0"/>
          </a:p>
        </p:txBody>
      </p:sp>
      <p:pic>
        <p:nvPicPr>
          <p:cNvPr id="9" name="Image 2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50215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4747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Qualitatif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unifiée fluide, conforme aux critères de responsivité SOLICODE.</a:t>
            </a:r>
            <a:endParaRPr lang="en-US" sz="1300" dirty="0"/>
          </a:p>
        </p:txBody>
      </p:sp>
      <p:pic>
        <p:nvPicPr>
          <p:cNvPr id="11" name="Image 3" descr="/home/claude/chatihna/icons/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1655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43891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Évolutive :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modulaire et documenté facilitant la maintenance future.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6309360" y="1581912"/>
            <a:ext cx="5486400" cy="3840480"/>
          </a:xfrm>
          <a:prstGeom prst="roundRect">
            <a:avLst>
              <a:gd name="adj" fmla="val 1905"/>
            </a:avLst>
          </a:prstGeom>
          <a:solidFill>
            <a:srgbClr val="111A2E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8"/>
          <p:cNvSpPr/>
          <p:nvPr/>
        </p:nvSpPr>
        <p:spPr>
          <a:xfrm>
            <a:off x="6583680" y="1874520"/>
            <a:ext cx="457200" cy="457200"/>
          </a:xfrm>
          <a:prstGeom prst="ellipse">
            <a:avLst/>
          </a:prstGeom>
          <a:solidFill>
            <a:srgbClr val="172A4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4" descr="/home/claude/chatihna/icons/rocket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993392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780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6995160" y="25603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pic>
        <p:nvPicPr>
          <p:cNvPr id="19" name="Image 6" descr="/home/claude/chatihna/icons/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563122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95160" y="256312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mobiles et sur navigateur hors-ligne.</a:t>
            </a:r>
            <a:endParaRPr lang="en-US" sz="1300" dirty="0"/>
          </a:p>
        </p:txBody>
      </p:sp>
      <p:pic>
        <p:nvPicPr>
          <p:cNvPr id="21" name="Image 7" descr="/home/claude/chatihna/icons/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474720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95160" y="342900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salons de discussion et de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multiples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complexes.</a:t>
            </a:r>
            <a:endParaRPr lang="en-US" sz="1300" dirty="0"/>
          </a:p>
        </p:txBody>
      </p:sp>
      <p:pic>
        <p:nvPicPr>
          <p:cNvPr id="23" name="Image 8" descr="/home/claude/chatihna/icons/chec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416552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995160" y="438912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 bout en bout (E2EE)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une sécurité absolue.</a:t>
            </a:r>
            <a:endParaRPr lang="en-US" sz="1300" dirty="0"/>
          </a:p>
        </p:txBody>
      </p:sp>
      <p:sp>
        <p:nvSpPr>
          <p:cNvPr id="25" name="Text 14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!</a:t>
            </a:r>
            <a:endParaRPr lang="en-US" sz="2400" dirty="0"/>
          </a:p>
        </p:txBody>
      </p:sp>
      <p:sp>
        <p:nvSpPr>
          <p:cNvPr id="26" name="Text 15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la discussion et à vos questions.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941</Words>
  <Application>Microsoft Office PowerPoint</Application>
  <PresentationFormat>Widescreen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Chatihna - Soutenance</dc:title>
  <dc:subject>PptxGenJS Presentation</dc:subject>
  <dc:creator>Sohail Koutaya</dc:creator>
  <cp:lastModifiedBy>sou hail</cp:lastModifiedBy>
  <cp:revision>2</cp:revision>
  <dcterms:created xsi:type="dcterms:W3CDTF">2026-06-15T11:45:12Z</dcterms:created>
  <dcterms:modified xsi:type="dcterms:W3CDTF">2026-06-15T16:46:47Z</dcterms:modified>
</cp:coreProperties>
</file>